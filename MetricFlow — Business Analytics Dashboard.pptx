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erebri" charset="1" panose="00000500000000000000"/>
      <p:regular r:id="rId13"/>
    </p:embeddedFont>
    <p:embeddedFont>
      <p:font typeface="Cerebri Bold" charset="1" panose="000008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2EFEB"/>
        </a:solidFill>
      </p:bgPr>
    </p:bg>
    <p:spTree>
      <p:nvGrpSpPr>
        <p:cNvPr id="1" name=""/>
        <p:cNvGrpSpPr/>
        <p:nvPr/>
      </p:nvGrpSpPr>
      <p:grpSpPr>
        <a:xfrm>
          <a:off x="0" y="0"/>
          <a:ext cx="0" cy="0"/>
          <a:chOff x="0" y="0"/>
          <a:chExt cx="0" cy="0"/>
        </a:xfrm>
      </p:grpSpPr>
      <p:grpSp>
        <p:nvGrpSpPr>
          <p:cNvPr name="Group 2" id="2"/>
          <p:cNvGrpSpPr/>
          <p:nvPr/>
        </p:nvGrpSpPr>
        <p:grpSpPr>
          <a:xfrm rot="0">
            <a:off x="10835621" y="8493465"/>
            <a:ext cx="6312748" cy="601162"/>
            <a:chOff x="0" y="0"/>
            <a:chExt cx="1662617" cy="158331"/>
          </a:xfrm>
        </p:grpSpPr>
        <p:sp>
          <p:nvSpPr>
            <p:cNvPr name="Freeform 3" id="3"/>
            <p:cNvSpPr/>
            <p:nvPr/>
          </p:nvSpPr>
          <p:spPr>
            <a:xfrm flipH="false" flipV="false" rot="0">
              <a:off x="0" y="0"/>
              <a:ext cx="1662617" cy="158331"/>
            </a:xfrm>
            <a:custGeom>
              <a:avLst/>
              <a:gdLst/>
              <a:ahLst/>
              <a:cxnLst/>
              <a:rect r="r" b="b" t="t" l="l"/>
              <a:pathLst>
                <a:path h="158331" w="1662617">
                  <a:moveTo>
                    <a:pt x="36792" y="0"/>
                  </a:moveTo>
                  <a:lnTo>
                    <a:pt x="1625825" y="0"/>
                  </a:lnTo>
                  <a:cubicBezTo>
                    <a:pt x="1646144" y="0"/>
                    <a:pt x="1662617" y="16472"/>
                    <a:pt x="1662617" y="36792"/>
                  </a:cubicBezTo>
                  <a:lnTo>
                    <a:pt x="1662617" y="121539"/>
                  </a:lnTo>
                  <a:cubicBezTo>
                    <a:pt x="1662617" y="141858"/>
                    <a:pt x="1646144" y="158331"/>
                    <a:pt x="1625825" y="158331"/>
                  </a:cubicBezTo>
                  <a:lnTo>
                    <a:pt x="36792" y="158331"/>
                  </a:lnTo>
                  <a:cubicBezTo>
                    <a:pt x="16472" y="158331"/>
                    <a:pt x="0" y="141858"/>
                    <a:pt x="0" y="121539"/>
                  </a:cubicBezTo>
                  <a:lnTo>
                    <a:pt x="0" y="36792"/>
                  </a:lnTo>
                  <a:cubicBezTo>
                    <a:pt x="0" y="16472"/>
                    <a:pt x="16472" y="0"/>
                    <a:pt x="36792" y="0"/>
                  </a:cubicBezTo>
                  <a:close/>
                </a:path>
              </a:pathLst>
            </a:custGeom>
            <a:ln w="19050" cap="rnd">
              <a:gradFill>
                <a:gsLst>
                  <a:gs pos="0">
                    <a:srgbClr val="0054C5">
                      <a:alpha val="100000"/>
                    </a:srgbClr>
                  </a:gs>
                  <a:gs pos="100000">
                    <a:srgbClr val="90E1E6">
                      <a:alpha val="100000"/>
                    </a:srgbClr>
                  </a:gs>
                </a:gsLst>
                <a:path path="circle">
                  <a:fillToRect l="0" r="100000" t="0" b="100000"/>
                </a:path>
                <a:tileRect r="0" l="-100000" b="0" t="-100000"/>
              </a:gradFill>
              <a:prstDash val="solid"/>
              <a:round/>
            </a:ln>
          </p:spPr>
        </p:sp>
        <p:sp>
          <p:nvSpPr>
            <p:cNvPr name="TextBox 4" id="4"/>
            <p:cNvSpPr txBox="true"/>
            <p:nvPr/>
          </p:nvSpPr>
          <p:spPr>
            <a:xfrm>
              <a:off x="0" y="-47625"/>
              <a:ext cx="1662617" cy="205956"/>
            </a:xfrm>
            <a:prstGeom prst="rect">
              <a:avLst/>
            </a:prstGeom>
          </p:spPr>
          <p:txBody>
            <a:bodyPr anchor="ctr" rtlCol="false" tIns="50800" lIns="50800" bIns="50800" rIns="50800"/>
            <a:lstStyle/>
            <a:p>
              <a:pPr algn="ctr" marL="0" indent="0" lvl="0">
                <a:lnSpc>
                  <a:spcPts val="3164"/>
                </a:lnSpc>
              </a:pPr>
              <a:r>
                <a:rPr lang="en-US" sz="2260">
                  <a:solidFill>
                    <a:srgbClr val="39352C"/>
                  </a:solidFill>
                  <a:latin typeface="Cerebri"/>
                  <a:ea typeface="Cerebri"/>
                  <a:cs typeface="Cerebri"/>
                  <a:sym typeface="Cerebri"/>
                </a:rPr>
                <a:t>Presented By. Mohamed Humaid Zahir Hussain</a:t>
              </a:r>
            </a:p>
          </p:txBody>
        </p:sp>
      </p:grpSp>
      <p:sp>
        <p:nvSpPr>
          <p:cNvPr name="AutoShape 5" id="5"/>
          <p:cNvSpPr/>
          <p:nvPr/>
        </p:nvSpPr>
        <p:spPr>
          <a:xfrm>
            <a:off x="4127053" y="651344"/>
            <a:ext cx="12560747" cy="0"/>
          </a:xfrm>
          <a:prstGeom prst="line">
            <a:avLst/>
          </a:prstGeom>
          <a:ln cap="flat" w="19050">
            <a:solidFill>
              <a:srgbClr val="39352C"/>
            </a:solidFill>
            <a:prstDash val="solid"/>
            <a:headEnd type="none" len="sm" w="sm"/>
            <a:tailEnd type="none" len="sm" w="sm"/>
          </a:ln>
        </p:spPr>
      </p:sp>
      <p:sp>
        <p:nvSpPr>
          <p:cNvPr name="AutoShape 6" id="6"/>
          <p:cNvSpPr/>
          <p:nvPr/>
        </p:nvSpPr>
        <p:spPr>
          <a:xfrm flipV="true">
            <a:off x="17249775" y="3436534"/>
            <a:ext cx="0" cy="3413931"/>
          </a:xfrm>
          <a:prstGeom prst="line">
            <a:avLst/>
          </a:prstGeom>
          <a:ln cap="flat" w="1905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TextBox 7" id="7"/>
          <p:cNvSpPr txBox="true"/>
          <p:nvPr/>
        </p:nvSpPr>
        <p:spPr>
          <a:xfrm rot="0">
            <a:off x="1028700" y="2591606"/>
            <a:ext cx="6799212" cy="2802729"/>
          </a:xfrm>
          <a:prstGeom prst="rect">
            <a:avLst/>
          </a:prstGeom>
        </p:spPr>
        <p:txBody>
          <a:bodyPr anchor="t" rtlCol="false" tIns="0" lIns="0" bIns="0" rIns="0">
            <a:spAutoFit/>
          </a:bodyPr>
          <a:lstStyle/>
          <a:p>
            <a:pPr algn="l" marL="0" indent="0" lvl="0">
              <a:lnSpc>
                <a:spcPts val="22968"/>
              </a:lnSpc>
              <a:spcBef>
                <a:spcPct val="0"/>
              </a:spcBef>
            </a:pPr>
            <a:r>
              <a:rPr lang="en-US" b="true" sz="16406">
                <a:solidFill>
                  <a:srgbClr val="39352C"/>
                </a:solidFill>
                <a:latin typeface="Cerebri Bold"/>
                <a:ea typeface="Cerebri Bold"/>
                <a:cs typeface="Cerebri Bold"/>
                <a:sym typeface="Cerebri Bold"/>
              </a:rPr>
              <a:t>Metric</a:t>
            </a:r>
          </a:p>
        </p:txBody>
      </p:sp>
      <p:sp>
        <p:nvSpPr>
          <p:cNvPr name="TextBox 8" id="8"/>
          <p:cNvSpPr txBox="true"/>
          <p:nvPr/>
        </p:nvSpPr>
        <p:spPr>
          <a:xfrm rot="0">
            <a:off x="4986233" y="4588195"/>
            <a:ext cx="6799212" cy="2802729"/>
          </a:xfrm>
          <a:prstGeom prst="rect">
            <a:avLst/>
          </a:prstGeom>
        </p:spPr>
        <p:txBody>
          <a:bodyPr anchor="t" rtlCol="false" tIns="0" lIns="0" bIns="0" rIns="0">
            <a:spAutoFit/>
          </a:bodyPr>
          <a:lstStyle/>
          <a:p>
            <a:pPr algn="l" marL="0" indent="0" lvl="0">
              <a:lnSpc>
                <a:spcPts val="22968"/>
              </a:lnSpc>
              <a:spcBef>
                <a:spcPct val="0"/>
              </a:spcBef>
            </a:pPr>
            <a:r>
              <a:rPr lang="en-US" b="true" sz="16406">
                <a:solidFill>
                  <a:srgbClr val="39352C"/>
                </a:solidFill>
                <a:latin typeface="Cerebri Bold"/>
                <a:ea typeface="Cerebri Bold"/>
                <a:cs typeface="Cerebri Bold"/>
                <a:sym typeface="Cerebri Bold"/>
              </a:rPr>
              <a:t>Flow</a:t>
            </a:r>
          </a:p>
        </p:txBody>
      </p:sp>
      <p:sp>
        <p:nvSpPr>
          <p:cNvPr name="TextBox 9" id="9"/>
          <p:cNvSpPr txBox="true"/>
          <p:nvPr/>
        </p:nvSpPr>
        <p:spPr>
          <a:xfrm rot="0">
            <a:off x="11296189" y="4920502"/>
            <a:ext cx="5391611" cy="398371"/>
          </a:xfrm>
          <a:prstGeom prst="rect">
            <a:avLst/>
          </a:prstGeom>
        </p:spPr>
        <p:txBody>
          <a:bodyPr anchor="t" rtlCol="false" tIns="0" lIns="0" bIns="0" rIns="0">
            <a:spAutoFit/>
          </a:bodyPr>
          <a:lstStyle/>
          <a:p>
            <a:pPr algn="r" marL="0" indent="0" lvl="0">
              <a:lnSpc>
                <a:spcPts val="3242"/>
              </a:lnSpc>
              <a:spcBef>
                <a:spcPct val="0"/>
              </a:spcBef>
            </a:pPr>
            <a:r>
              <a:rPr lang="en-US" b="true" sz="2316" spc="69">
                <a:solidFill>
                  <a:srgbClr val="0054C5"/>
                </a:solidFill>
                <a:latin typeface="Cerebri Bold"/>
                <a:ea typeface="Cerebri Bold"/>
                <a:cs typeface="Cerebri Bold"/>
                <a:sym typeface="Cerebri Bold"/>
              </a:rPr>
              <a:t>BUSINESS ANALYTICS DASHBOARD</a:t>
            </a:r>
          </a:p>
        </p:txBody>
      </p:sp>
      <p:sp>
        <p:nvSpPr>
          <p:cNvPr name="TextBox 10" id="10"/>
          <p:cNvSpPr txBox="true"/>
          <p:nvPr/>
        </p:nvSpPr>
        <p:spPr>
          <a:xfrm rot="0">
            <a:off x="1028700" y="432398"/>
            <a:ext cx="3098353" cy="390268"/>
          </a:xfrm>
          <a:prstGeom prst="rect">
            <a:avLst/>
          </a:prstGeom>
        </p:spPr>
        <p:txBody>
          <a:bodyPr anchor="t" rtlCol="false" tIns="0" lIns="0" bIns="0" rIns="0">
            <a:spAutoFit/>
          </a:bodyPr>
          <a:lstStyle/>
          <a:p>
            <a:pPr algn="l" marL="0" indent="0" lvl="0">
              <a:lnSpc>
                <a:spcPts val="3164"/>
              </a:lnSpc>
              <a:spcBef>
                <a:spcPct val="0"/>
              </a:spcBef>
            </a:pPr>
            <a:r>
              <a:rPr lang="en-US" sz="2260" spc="67">
                <a:solidFill>
                  <a:srgbClr val="39352C"/>
                </a:solidFill>
                <a:latin typeface="Cerebri"/>
                <a:ea typeface="Cerebri"/>
                <a:cs typeface="Cerebri"/>
                <a:sym typeface="Cerebri"/>
              </a:rPr>
              <a:t>METRICFLOW</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2EFEB"/>
        </a:solidFill>
      </p:bgPr>
    </p:bg>
    <p:spTree>
      <p:nvGrpSpPr>
        <p:cNvPr id="1" name=""/>
        <p:cNvGrpSpPr/>
        <p:nvPr/>
      </p:nvGrpSpPr>
      <p:grpSpPr>
        <a:xfrm>
          <a:off x="0" y="0"/>
          <a:ext cx="0" cy="0"/>
          <a:chOff x="0" y="0"/>
          <a:chExt cx="0" cy="0"/>
        </a:xfrm>
      </p:grpSpPr>
      <p:sp>
        <p:nvSpPr>
          <p:cNvPr name="AutoShape 2" id="2"/>
          <p:cNvSpPr/>
          <p:nvPr/>
        </p:nvSpPr>
        <p:spPr>
          <a:xfrm>
            <a:off x="4127053" y="622597"/>
            <a:ext cx="12451580" cy="0"/>
          </a:xfrm>
          <a:prstGeom prst="line">
            <a:avLst/>
          </a:prstGeom>
          <a:ln cap="flat" w="19050">
            <a:solidFill>
              <a:srgbClr val="39352C"/>
            </a:solidFill>
            <a:prstDash val="solid"/>
            <a:headEnd type="none" len="sm" w="sm"/>
            <a:tailEnd type="none" len="sm" w="sm"/>
          </a:ln>
        </p:spPr>
      </p:sp>
      <p:sp>
        <p:nvSpPr>
          <p:cNvPr name="TextBox 3" id="3"/>
          <p:cNvSpPr txBox="true"/>
          <p:nvPr/>
        </p:nvSpPr>
        <p:spPr>
          <a:xfrm rot="0">
            <a:off x="1028700" y="441923"/>
            <a:ext cx="3098353" cy="323249"/>
          </a:xfrm>
          <a:prstGeom prst="rect">
            <a:avLst/>
          </a:prstGeom>
        </p:spPr>
        <p:txBody>
          <a:bodyPr anchor="t" rtlCol="false" tIns="0" lIns="0" bIns="0" rIns="0">
            <a:spAutoFit/>
          </a:bodyPr>
          <a:lstStyle/>
          <a:p>
            <a:pPr algn="l" marL="0" indent="0" lvl="0">
              <a:lnSpc>
                <a:spcPts val="2658"/>
              </a:lnSpc>
              <a:spcBef>
                <a:spcPct val="0"/>
              </a:spcBef>
            </a:pPr>
            <a:r>
              <a:rPr lang="en-US" sz="1898" spc="56">
                <a:solidFill>
                  <a:srgbClr val="39352C"/>
                </a:solidFill>
                <a:latin typeface="Cerebri"/>
                <a:ea typeface="Cerebri"/>
                <a:cs typeface="Cerebri"/>
                <a:sym typeface="Cerebri"/>
              </a:rPr>
              <a:t>METRICFLOW</a:t>
            </a:r>
          </a:p>
        </p:txBody>
      </p:sp>
      <p:sp>
        <p:nvSpPr>
          <p:cNvPr name="TextBox 4" id="4"/>
          <p:cNvSpPr txBox="true"/>
          <p:nvPr/>
        </p:nvSpPr>
        <p:spPr>
          <a:xfrm rot="0">
            <a:off x="6445819" y="1658055"/>
            <a:ext cx="5396362" cy="962760"/>
          </a:xfrm>
          <a:prstGeom prst="rect">
            <a:avLst/>
          </a:prstGeom>
        </p:spPr>
        <p:txBody>
          <a:bodyPr anchor="t" rtlCol="false" tIns="0" lIns="0" bIns="0" rIns="0">
            <a:spAutoFit/>
          </a:bodyPr>
          <a:lstStyle/>
          <a:p>
            <a:pPr algn="ctr" marL="0" indent="0" lvl="0">
              <a:lnSpc>
                <a:spcPts val="7834"/>
              </a:lnSpc>
              <a:spcBef>
                <a:spcPct val="0"/>
              </a:spcBef>
            </a:pPr>
            <a:r>
              <a:rPr lang="en-US" b="true" sz="5596">
                <a:solidFill>
                  <a:srgbClr val="0054C5"/>
                </a:solidFill>
                <a:latin typeface="Cerebri Bold"/>
                <a:ea typeface="Cerebri Bold"/>
                <a:cs typeface="Cerebri Bold"/>
                <a:sym typeface="Cerebri Bold"/>
              </a:rPr>
              <a:t>Abstract</a:t>
            </a:r>
          </a:p>
        </p:txBody>
      </p:sp>
      <p:sp>
        <p:nvSpPr>
          <p:cNvPr name="TextBox 5" id="5"/>
          <p:cNvSpPr txBox="true"/>
          <p:nvPr/>
        </p:nvSpPr>
        <p:spPr>
          <a:xfrm rot="0">
            <a:off x="1028700" y="3722947"/>
            <a:ext cx="16128489" cy="1934486"/>
          </a:xfrm>
          <a:prstGeom prst="rect">
            <a:avLst/>
          </a:prstGeom>
        </p:spPr>
        <p:txBody>
          <a:bodyPr anchor="t" rtlCol="false" tIns="0" lIns="0" bIns="0" rIns="0">
            <a:spAutoFit/>
          </a:bodyPr>
          <a:lstStyle/>
          <a:p>
            <a:pPr algn="just" marL="0" indent="0" lvl="0">
              <a:lnSpc>
                <a:spcPts val="3099"/>
              </a:lnSpc>
              <a:spcBef>
                <a:spcPct val="0"/>
              </a:spcBef>
            </a:pPr>
            <a:r>
              <a:rPr lang="en-US" sz="2214">
                <a:solidFill>
                  <a:srgbClr val="39352C"/>
                </a:solidFill>
                <a:latin typeface="Cerebri"/>
                <a:ea typeface="Cerebri"/>
                <a:cs typeface="Cerebri"/>
                <a:sym typeface="Cerebri"/>
              </a:rPr>
              <a:t>M</a:t>
            </a:r>
            <a:r>
              <a:rPr lang="en-US" sz="2214">
                <a:solidFill>
                  <a:srgbClr val="39352C"/>
                </a:solidFill>
                <a:latin typeface="Cerebri"/>
                <a:ea typeface="Cerebri"/>
                <a:cs typeface="Cerebri"/>
                <a:sym typeface="Cerebri"/>
              </a:rPr>
              <a:t>etricFlow is a responsive web-based business analytics dashboard designed to help users visualize and understand business performance through an organized interface. It presents key performance indicators (KPIs), revenue and profit charts, transaction details, customer information, and product analytics. The application includes search, filtering, sorting, pagination, CSV export, and dark/light theme support. It uses illustrative sample data to demonstrate how business information can be displayed and analyzed effectively.</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2EFEB"/>
        </a:solidFill>
      </p:bgPr>
    </p:bg>
    <p:spTree>
      <p:nvGrpSpPr>
        <p:cNvPr id="1" name=""/>
        <p:cNvGrpSpPr/>
        <p:nvPr/>
      </p:nvGrpSpPr>
      <p:grpSpPr>
        <a:xfrm>
          <a:off x="0" y="0"/>
          <a:ext cx="0" cy="0"/>
          <a:chOff x="0" y="0"/>
          <a:chExt cx="0" cy="0"/>
        </a:xfrm>
      </p:grpSpPr>
      <p:sp>
        <p:nvSpPr>
          <p:cNvPr name="AutoShape 2" id="2"/>
          <p:cNvSpPr/>
          <p:nvPr/>
        </p:nvSpPr>
        <p:spPr>
          <a:xfrm>
            <a:off x="4127053" y="622597"/>
            <a:ext cx="12163614" cy="0"/>
          </a:xfrm>
          <a:prstGeom prst="line">
            <a:avLst/>
          </a:prstGeom>
          <a:ln cap="flat" w="19050">
            <a:solidFill>
              <a:srgbClr val="39352C"/>
            </a:solidFill>
            <a:prstDash val="solid"/>
            <a:headEnd type="none" len="sm" w="sm"/>
            <a:tailEnd type="none" len="sm" w="sm"/>
          </a:ln>
        </p:spPr>
      </p:sp>
      <p:sp>
        <p:nvSpPr>
          <p:cNvPr name="AutoShape 3" id="3"/>
          <p:cNvSpPr/>
          <p:nvPr/>
        </p:nvSpPr>
        <p:spPr>
          <a:xfrm>
            <a:off x="9038417" y="1590795"/>
            <a:ext cx="8115300" cy="0"/>
          </a:xfrm>
          <a:prstGeom prst="line">
            <a:avLst/>
          </a:prstGeom>
          <a:ln cap="flat" w="1905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4" id="4"/>
          <p:cNvSpPr/>
          <p:nvPr/>
        </p:nvSpPr>
        <p:spPr>
          <a:xfrm>
            <a:off x="9144000" y="3476913"/>
            <a:ext cx="8115300" cy="0"/>
          </a:xfrm>
          <a:prstGeom prst="line">
            <a:avLst/>
          </a:prstGeom>
          <a:ln cap="flat" w="1905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5" id="5"/>
          <p:cNvSpPr/>
          <p:nvPr/>
        </p:nvSpPr>
        <p:spPr>
          <a:xfrm>
            <a:off x="9144000" y="5035400"/>
            <a:ext cx="8115300" cy="0"/>
          </a:xfrm>
          <a:prstGeom prst="line">
            <a:avLst/>
          </a:prstGeom>
          <a:ln cap="flat" w="1905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6" id="6"/>
          <p:cNvSpPr/>
          <p:nvPr/>
        </p:nvSpPr>
        <p:spPr>
          <a:xfrm>
            <a:off x="9144000" y="6766224"/>
            <a:ext cx="8115300" cy="0"/>
          </a:xfrm>
          <a:prstGeom prst="line">
            <a:avLst/>
          </a:prstGeom>
          <a:ln cap="flat" w="1905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sp>
        <p:nvSpPr>
          <p:cNvPr name="AutoShape 7" id="7"/>
          <p:cNvSpPr/>
          <p:nvPr/>
        </p:nvSpPr>
        <p:spPr>
          <a:xfrm>
            <a:off x="9249583" y="8815332"/>
            <a:ext cx="8115300" cy="0"/>
          </a:xfrm>
          <a:prstGeom prst="line">
            <a:avLst/>
          </a:prstGeom>
          <a:ln cap="flat" w="19050">
            <a:gradFill>
              <a:gsLst>
                <a:gs pos="0">
                  <a:srgbClr val="0054C5">
                    <a:alpha val="100000"/>
                  </a:srgbClr>
                </a:gs>
                <a:gs pos="100000">
                  <a:srgbClr val="90E1E6">
                    <a:alpha val="100000"/>
                  </a:srgbClr>
                </a:gs>
              </a:gsLst>
              <a:path path="circle">
                <a:fillToRect l="0" r="100000" t="0" b="100000"/>
              </a:path>
              <a:tileRect r="0" l="-100000" b="0" t="-100000"/>
            </a:gradFill>
            <a:prstDash val="solid"/>
            <a:headEnd type="none" len="sm" w="sm"/>
            <a:tailEnd type="none" len="sm" w="sm"/>
          </a:ln>
        </p:spPr>
      </p:sp>
      <p:grpSp>
        <p:nvGrpSpPr>
          <p:cNvPr name="Group 8" id="8"/>
          <p:cNvGrpSpPr/>
          <p:nvPr/>
        </p:nvGrpSpPr>
        <p:grpSpPr>
          <a:xfrm rot="0">
            <a:off x="9038417" y="2381834"/>
            <a:ext cx="211165" cy="211165"/>
            <a:chOff x="0" y="0"/>
            <a:chExt cx="55616" cy="55616"/>
          </a:xfrm>
        </p:grpSpPr>
        <p:sp>
          <p:nvSpPr>
            <p:cNvPr name="Freeform 9" id="9"/>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0" id="10"/>
            <p:cNvSpPr txBox="true"/>
            <p:nvPr/>
          </p:nvSpPr>
          <p:spPr>
            <a:xfrm>
              <a:off x="0" y="-38100"/>
              <a:ext cx="55616" cy="93716"/>
            </a:xfrm>
            <a:prstGeom prst="rect">
              <a:avLst/>
            </a:prstGeom>
          </p:spPr>
          <p:txBody>
            <a:bodyPr anchor="ctr" rtlCol="false" tIns="50800" lIns="50800" bIns="50800" rIns="50800"/>
            <a:lstStyle/>
            <a:p>
              <a:pPr algn="ctr" marL="0" indent="0" lvl="0">
                <a:lnSpc>
                  <a:spcPts val="3359"/>
                </a:lnSpc>
              </a:pPr>
            </a:p>
          </p:txBody>
        </p:sp>
      </p:grpSp>
      <p:grpSp>
        <p:nvGrpSpPr>
          <p:cNvPr name="Group 11" id="11"/>
          <p:cNvGrpSpPr/>
          <p:nvPr/>
        </p:nvGrpSpPr>
        <p:grpSpPr>
          <a:xfrm rot="0">
            <a:off x="9038417" y="4100647"/>
            <a:ext cx="211165" cy="211165"/>
            <a:chOff x="0" y="0"/>
            <a:chExt cx="55616" cy="55616"/>
          </a:xfrm>
        </p:grpSpPr>
        <p:sp>
          <p:nvSpPr>
            <p:cNvPr name="Freeform 12" id="12"/>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3" id="13"/>
            <p:cNvSpPr txBox="true"/>
            <p:nvPr/>
          </p:nvSpPr>
          <p:spPr>
            <a:xfrm>
              <a:off x="0" y="-38100"/>
              <a:ext cx="55616" cy="93716"/>
            </a:xfrm>
            <a:prstGeom prst="rect">
              <a:avLst/>
            </a:prstGeom>
          </p:spPr>
          <p:txBody>
            <a:bodyPr anchor="ctr" rtlCol="false" tIns="50800" lIns="50800" bIns="50800" rIns="50800"/>
            <a:lstStyle/>
            <a:p>
              <a:pPr algn="ctr" marL="0" indent="0" lvl="0">
                <a:lnSpc>
                  <a:spcPts val="3359"/>
                </a:lnSpc>
              </a:pPr>
            </a:p>
          </p:txBody>
        </p:sp>
      </p:grpSp>
      <p:grpSp>
        <p:nvGrpSpPr>
          <p:cNvPr name="Group 14" id="14"/>
          <p:cNvGrpSpPr/>
          <p:nvPr/>
        </p:nvGrpSpPr>
        <p:grpSpPr>
          <a:xfrm rot="0">
            <a:off x="9038417" y="5723389"/>
            <a:ext cx="211165" cy="211165"/>
            <a:chOff x="0" y="0"/>
            <a:chExt cx="55616" cy="55616"/>
          </a:xfrm>
        </p:grpSpPr>
        <p:sp>
          <p:nvSpPr>
            <p:cNvPr name="Freeform 15" id="15"/>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6" id="16"/>
            <p:cNvSpPr txBox="true"/>
            <p:nvPr/>
          </p:nvSpPr>
          <p:spPr>
            <a:xfrm>
              <a:off x="0" y="-38100"/>
              <a:ext cx="55616" cy="93716"/>
            </a:xfrm>
            <a:prstGeom prst="rect">
              <a:avLst/>
            </a:prstGeom>
          </p:spPr>
          <p:txBody>
            <a:bodyPr anchor="ctr" rtlCol="false" tIns="50800" lIns="50800" bIns="50800" rIns="50800"/>
            <a:lstStyle/>
            <a:p>
              <a:pPr algn="ctr" marL="0" indent="0" lvl="0">
                <a:lnSpc>
                  <a:spcPts val="3359"/>
                </a:lnSpc>
              </a:pPr>
            </a:p>
          </p:txBody>
        </p:sp>
      </p:grpSp>
      <p:grpSp>
        <p:nvGrpSpPr>
          <p:cNvPr name="Group 17" id="17"/>
          <p:cNvGrpSpPr/>
          <p:nvPr/>
        </p:nvGrpSpPr>
        <p:grpSpPr>
          <a:xfrm rot="0">
            <a:off x="9038417" y="7591216"/>
            <a:ext cx="211165" cy="211165"/>
            <a:chOff x="0" y="0"/>
            <a:chExt cx="55616" cy="55616"/>
          </a:xfrm>
        </p:grpSpPr>
        <p:sp>
          <p:nvSpPr>
            <p:cNvPr name="Freeform 18" id="18"/>
            <p:cNvSpPr/>
            <p:nvPr/>
          </p:nvSpPr>
          <p:spPr>
            <a:xfrm flipH="false" flipV="false" rot="0">
              <a:off x="0" y="0"/>
              <a:ext cx="55616" cy="55616"/>
            </a:xfrm>
            <a:custGeom>
              <a:avLst/>
              <a:gdLst/>
              <a:ahLst/>
              <a:cxnLst/>
              <a:rect r="r" b="b" t="t" l="l"/>
              <a:pathLst>
                <a:path h="55616" w="55616">
                  <a:moveTo>
                    <a:pt x="0" y="0"/>
                  </a:moveTo>
                  <a:lnTo>
                    <a:pt x="55616" y="0"/>
                  </a:lnTo>
                  <a:lnTo>
                    <a:pt x="55616" y="55616"/>
                  </a:lnTo>
                  <a:lnTo>
                    <a:pt x="0" y="55616"/>
                  </a:ln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9" id="19"/>
            <p:cNvSpPr txBox="true"/>
            <p:nvPr/>
          </p:nvSpPr>
          <p:spPr>
            <a:xfrm>
              <a:off x="0" y="-38100"/>
              <a:ext cx="55616" cy="93716"/>
            </a:xfrm>
            <a:prstGeom prst="rect">
              <a:avLst/>
            </a:prstGeom>
          </p:spPr>
          <p:txBody>
            <a:bodyPr anchor="ctr" rtlCol="false" tIns="50800" lIns="50800" bIns="50800" rIns="50800"/>
            <a:lstStyle/>
            <a:p>
              <a:pPr algn="ctr" marL="0" indent="0" lvl="0">
                <a:lnSpc>
                  <a:spcPts val="3359"/>
                </a:lnSpc>
              </a:pPr>
            </a:p>
          </p:txBody>
        </p:sp>
      </p:grpSp>
      <p:sp>
        <p:nvSpPr>
          <p:cNvPr name="TextBox 20" id="20"/>
          <p:cNvSpPr txBox="true"/>
          <p:nvPr/>
        </p:nvSpPr>
        <p:spPr>
          <a:xfrm rot="0">
            <a:off x="1028700" y="441923"/>
            <a:ext cx="3098353" cy="323249"/>
          </a:xfrm>
          <a:prstGeom prst="rect">
            <a:avLst/>
          </a:prstGeom>
        </p:spPr>
        <p:txBody>
          <a:bodyPr anchor="t" rtlCol="false" tIns="0" lIns="0" bIns="0" rIns="0">
            <a:spAutoFit/>
          </a:bodyPr>
          <a:lstStyle/>
          <a:p>
            <a:pPr algn="l" marL="0" indent="0" lvl="0">
              <a:lnSpc>
                <a:spcPts val="2658"/>
              </a:lnSpc>
              <a:spcBef>
                <a:spcPct val="0"/>
              </a:spcBef>
            </a:pPr>
            <a:r>
              <a:rPr lang="en-US" sz="1898" spc="56">
                <a:solidFill>
                  <a:srgbClr val="39352C"/>
                </a:solidFill>
                <a:latin typeface="Cerebri"/>
                <a:ea typeface="Cerebri"/>
                <a:cs typeface="Cerebri"/>
                <a:sym typeface="Cerebri"/>
              </a:rPr>
              <a:t>M</a:t>
            </a:r>
            <a:r>
              <a:rPr lang="en-US" sz="1898" spc="56">
                <a:solidFill>
                  <a:srgbClr val="39352C"/>
                </a:solidFill>
                <a:latin typeface="Cerebri"/>
                <a:ea typeface="Cerebri"/>
                <a:cs typeface="Cerebri"/>
                <a:sym typeface="Cerebri"/>
              </a:rPr>
              <a:t>ETRICFLOW</a:t>
            </a:r>
          </a:p>
        </p:txBody>
      </p:sp>
      <p:sp>
        <p:nvSpPr>
          <p:cNvPr name="TextBox 21" id="21"/>
          <p:cNvSpPr txBox="true"/>
          <p:nvPr/>
        </p:nvSpPr>
        <p:spPr>
          <a:xfrm rot="0">
            <a:off x="1755275" y="4706495"/>
            <a:ext cx="7605932" cy="962760"/>
          </a:xfrm>
          <a:prstGeom prst="rect">
            <a:avLst/>
          </a:prstGeom>
        </p:spPr>
        <p:txBody>
          <a:bodyPr anchor="t" rtlCol="false" tIns="0" lIns="0" bIns="0" rIns="0">
            <a:spAutoFit/>
          </a:bodyPr>
          <a:lstStyle/>
          <a:p>
            <a:pPr algn="l" marL="0" indent="0" lvl="0">
              <a:lnSpc>
                <a:spcPts val="7834"/>
              </a:lnSpc>
              <a:spcBef>
                <a:spcPct val="0"/>
              </a:spcBef>
            </a:pPr>
            <a:r>
              <a:rPr lang="en-US" b="true" sz="5596">
                <a:solidFill>
                  <a:srgbClr val="0054C5"/>
                </a:solidFill>
                <a:latin typeface="Cerebri Bold"/>
                <a:ea typeface="Cerebri Bold"/>
                <a:cs typeface="Cerebri Bold"/>
                <a:sym typeface="Cerebri Bold"/>
              </a:rPr>
              <a:t>Objectives</a:t>
            </a:r>
          </a:p>
        </p:txBody>
      </p:sp>
      <p:sp>
        <p:nvSpPr>
          <p:cNvPr name="TextBox 22" id="22"/>
          <p:cNvSpPr txBox="true"/>
          <p:nvPr/>
        </p:nvSpPr>
        <p:spPr>
          <a:xfrm rot="0">
            <a:off x="9361207" y="2272449"/>
            <a:ext cx="3220012" cy="382309"/>
          </a:xfrm>
          <a:prstGeom prst="rect">
            <a:avLst/>
          </a:prstGeom>
        </p:spPr>
        <p:txBody>
          <a:bodyPr anchor="t" rtlCol="false" tIns="0" lIns="0" bIns="0" rIns="0">
            <a:spAutoFit/>
          </a:bodyPr>
          <a:lstStyle/>
          <a:p>
            <a:pPr algn="l" marL="0" indent="0" lvl="0">
              <a:lnSpc>
                <a:spcPts val="3077"/>
              </a:lnSpc>
              <a:spcBef>
                <a:spcPct val="0"/>
              </a:spcBef>
            </a:pPr>
            <a:r>
              <a:rPr lang="en-US" b="true" sz="2198">
                <a:solidFill>
                  <a:srgbClr val="39352C"/>
                </a:solidFill>
                <a:latin typeface="Cerebri Bold"/>
                <a:ea typeface="Cerebri Bold"/>
                <a:cs typeface="Cerebri Bold"/>
                <a:sym typeface="Cerebri Bold"/>
              </a:rPr>
              <a:t>Responsive Design</a:t>
            </a:r>
          </a:p>
        </p:txBody>
      </p:sp>
      <p:sp>
        <p:nvSpPr>
          <p:cNvPr name="TextBox 23" id="23"/>
          <p:cNvSpPr txBox="true"/>
          <p:nvPr/>
        </p:nvSpPr>
        <p:spPr>
          <a:xfrm rot="0">
            <a:off x="12692845" y="2193541"/>
            <a:ext cx="4566455" cy="559174"/>
          </a:xfrm>
          <a:prstGeom prst="rect">
            <a:avLst/>
          </a:prstGeom>
        </p:spPr>
        <p:txBody>
          <a:bodyPr anchor="t" rtlCol="false" tIns="0" lIns="0" bIns="0" rIns="0">
            <a:spAutoFit/>
          </a:bodyPr>
          <a:lstStyle/>
          <a:p>
            <a:pPr algn="l" marL="0" indent="0" lvl="0">
              <a:lnSpc>
                <a:spcPts val="2254"/>
              </a:lnSpc>
              <a:spcBef>
                <a:spcPct val="0"/>
              </a:spcBef>
            </a:pPr>
            <a:r>
              <a:rPr lang="en-US" sz="1610">
                <a:solidFill>
                  <a:srgbClr val="39352C"/>
                </a:solidFill>
                <a:latin typeface="Cerebri"/>
                <a:ea typeface="Cerebri"/>
                <a:cs typeface="Cerebri"/>
                <a:sym typeface="Cerebri"/>
              </a:rPr>
              <a:t>Develop a user-friendly, fully responsive analytics dashboard accessible across all devices.</a:t>
            </a:r>
          </a:p>
        </p:txBody>
      </p:sp>
      <p:sp>
        <p:nvSpPr>
          <p:cNvPr name="TextBox 24" id="24"/>
          <p:cNvSpPr txBox="true"/>
          <p:nvPr/>
        </p:nvSpPr>
        <p:spPr>
          <a:xfrm rot="0">
            <a:off x="12692845" y="3914251"/>
            <a:ext cx="4566455" cy="559174"/>
          </a:xfrm>
          <a:prstGeom prst="rect">
            <a:avLst/>
          </a:prstGeom>
        </p:spPr>
        <p:txBody>
          <a:bodyPr anchor="t" rtlCol="false" tIns="0" lIns="0" bIns="0" rIns="0">
            <a:spAutoFit/>
          </a:bodyPr>
          <a:lstStyle/>
          <a:p>
            <a:pPr algn="l" marL="0" indent="0" lvl="0">
              <a:lnSpc>
                <a:spcPts val="2254"/>
              </a:lnSpc>
              <a:spcBef>
                <a:spcPct val="0"/>
              </a:spcBef>
            </a:pPr>
            <a:r>
              <a:rPr lang="en-US" sz="1610">
                <a:solidFill>
                  <a:srgbClr val="39352C"/>
                </a:solidFill>
                <a:latin typeface="Cerebri"/>
                <a:ea typeface="Cerebri"/>
                <a:cs typeface="Cerebri"/>
                <a:sym typeface="Cerebri"/>
              </a:rPr>
              <a:t>Centralize key business metrics — revenue, profit, customers, and sales — for easy access.</a:t>
            </a:r>
          </a:p>
        </p:txBody>
      </p:sp>
      <p:sp>
        <p:nvSpPr>
          <p:cNvPr name="TextBox 25" id="25"/>
          <p:cNvSpPr txBox="true"/>
          <p:nvPr/>
        </p:nvSpPr>
        <p:spPr>
          <a:xfrm rot="0">
            <a:off x="12692845" y="5640680"/>
            <a:ext cx="4566455" cy="559174"/>
          </a:xfrm>
          <a:prstGeom prst="rect">
            <a:avLst/>
          </a:prstGeom>
        </p:spPr>
        <p:txBody>
          <a:bodyPr anchor="t" rtlCol="false" tIns="0" lIns="0" bIns="0" rIns="0">
            <a:spAutoFit/>
          </a:bodyPr>
          <a:lstStyle/>
          <a:p>
            <a:pPr algn="l" marL="0" indent="0" lvl="0">
              <a:lnSpc>
                <a:spcPts val="2254"/>
              </a:lnSpc>
              <a:spcBef>
                <a:spcPct val="0"/>
              </a:spcBef>
            </a:pPr>
            <a:r>
              <a:rPr lang="en-US" sz="1610">
                <a:solidFill>
                  <a:srgbClr val="39352C"/>
                </a:solidFill>
                <a:latin typeface="Cerebri"/>
                <a:ea typeface="Cerebri"/>
                <a:cs typeface="Cerebri"/>
                <a:sym typeface="Cerebri"/>
              </a:rPr>
              <a:t>Visualize revenue, profit, and sales data through interactive charts powered by Recharts.</a:t>
            </a:r>
          </a:p>
        </p:txBody>
      </p:sp>
      <p:sp>
        <p:nvSpPr>
          <p:cNvPr name="TextBox 26" id="26"/>
          <p:cNvSpPr txBox="true"/>
          <p:nvPr/>
        </p:nvSpPr>
        <p:spPr>
          <a:xfrm rot="0">
            <a:off x="12798427" y="7500882"/>
            <a:ext cx="4566455" cy="559174"/>
          </a:xfrm>
          <a:prstGeom prst="rect">
            <a:avLst/>
          </a:prstGeom>
        </p:spPr>
        <p:txBody>
          <a:bodyPr anchor="t" rtlCol="false" tIns="0" lIns="0" bIns="0" rIns="0">
            <a:spAutoFit/>
          </a:bodyPr>
          <a:lstStyle/>
          <a:p>
            <a:pPr algn="l" marL="0" indent="0" lvl="0">
              <a:lnSpc>
                <a:spcPts val="2254"/>
              </a:lnSpc>
              <a:spcBef>
                <a:spcPct val="0"/>
              </a:spcBef>
            </a:pPr>
            <a:r>
              <a:rPr lang="en-US" sz="1610">
                <a:solidFill>
                  <a:srgbClr val="39352C"/>
                </a:solidFill>
                <a:latin typeface="Cerebri"/>
                <a:ea typeface="Cerebri"/>
                <a:cs typeface="Cerebri"/>
                <a:sym typeface="Cerebri"/>
              </a:rPr>
              <a:t>Showcase a modular frontend architecture using React, TypeScript, Vite, and Tailwind CSS.</a:t>
            </a:r>
          </a:p>
        </p:txBody>
      </p:sp>
      <p:sp>
        <p:nvSpPr>
          <p:cNvPr name="TextBox 27" id="27"/>
          <p:cNvSpPr txBox="true"/>
          <p:nvPr/>
        </p:nvSpPr>
        <p:spPr>
          <a:xfrm rot="0">
            <a:off x="9472832" y="3991263"/>
            <a:ext cx="3220012" cy="382309"/>
          </a:xfrm>
          <a:prstGeom prst="rect">
            <a:avLst/>
          </a:prstGeom>
        </p:spPr>
        <p:txBody>
          <a:bodyPr anchor="t" rtlCol="false" tIns="0" lIns="0" bIns="0" rIns="0">
            <a:spAutoFit/>
          </a:bodyPr>
          <a:lstStyle/>
          <a:p>
            <a:pPr algn="l" marL="0" indent="0" lvl="0">
              <a:lnSpc>
                <a:spcPts val="3077"/>
              </a:lnSpc>
              <a:spcBef>
                <a:spcPct val="0"/>
              </a:spcBef>
            </a:pPr>
            <a:r>
              <a:rPr lang="en-US" b="true" sz="2198">
                <a:solidFill>
                  <a:srgbClr val="39352C"/>
                </a:solidFill>
                <a:latin typeface="Cerebri Bold"/>
                <a:ea typeface="Cerebri Bold"/>
                <a:cs typeface="Cerebri Bold"/>
                <a:sym typeface="Cerebri Bold"/>
              </a:rPr>
              <a:t>Centralized Metrics</a:t>
            </a:r>
          </a:p>
        </p:txBody>
      </p:sp>
      <p:sp>
        <p:nvSpPr>
          <p:cNvPr name="TextBox 28" id="28"/>
          <p:cNvSpPr txBox="true"/>
          <p:nvPr/>
        </p:nvSpPr>
        <p:spPr>
          <a:xfrm rot="0">
            <a:off x="9472832" y="5621630"/>
            <a:ext cx="3220012" cy="382309"/>
          </a:xfrm>
          <a:prstGeom prst="rect">
            <a:avLst/>
          </a:prstGeom>
        </p:spPr>
        <p:txBody>
          <a:bodyPr anchor="t" rtlCol="false" tIns="0" lIns="0" bIns="0" rIns="0">
            <a:spAutoFit/>
          </a:bodyPr>
          <a:lstStyle/>
          <a:p>
            <a:pPr algn="l" marL="0" indent="0" lvl="0">
              <a:lnSpc>
                <a:spcPts val="3077"/>
              </a:lnSpc>
              <a:spcBef>
                <a:spcPct val="0"/>
              </a:spcBef>
            </a:pPr>
            <a:r>
              <a:rPr lang="en-US" b="true" sz="2198">
                <a:solidFill>
                  <a:srgbClr val="39352C"/>
                </a:solidFill>
                <a:latin typeface="Cerebri Bold"/>
                <a:ea typeface="Cerebri Bold"/>
                <a:cs typeface="Cerebri Bold"/>
                <a:sym typeface="Cerebri Bold"/>
              </a:rPr>
              <a:t>Data Visualization</a:t>
            </a:r>
          </a:p>
        </p:txBody>
      </p:sp>
      <p:sp>
        <p:nvSpPr>
          <p:cNvPr name="TextBox 29" id="29"/>
          <p:cNvSpPr txBox="true"/>
          <p:nvPr/>
        </p:nvSpPr>
        <p:spPr>
          <a:xfrm rot="0">
            <a:off x="9472832" y="7481832"/>
            <a:ext cx="3220012" cy="382309"/>
          </a:xfrm>
          <a:prstGeom prst="rect">
            <a:avLst/>
          </a:prstGeom>
        </p:spPr>
        <p:txBody>
          <a:bodyPr anchor="t" rtlCol="false" tIns="0" lIns="0" bIns="0" rIns="0">
            <a:spAutoFit/>
          </a:bodyPr>
          <a:lstStyle/>
          <a:p>
            <a:pPr algn="l" marL="0" indent="0" lvl="0">
              <a:lnSpc>
                <a:spcPts val="3077"/>
              </a:lnSpc>
              <a:spcBef>
                <a:spcPct val="0"/>
              </a:spcBef>
            </a:pPr>
            <a:r>
              <a:rPr lang="en-US" b="true" sz="2198">
                <a:solidFill>
                  <a:srgbClr val="39352C"/>
                </a:solidFill>
                <a:latin typeface="Cerebri Bold"/>
                <a:ea typeface="Cerebri Bold"/>
                <a:cs typeface="Cerebri Bold"/>
                <a:sym typeface="Cerebri Bold"/>
              </a:rPr>
              <a:t>Modular Architecture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2EFEB"/>
        </a:solidFill>
      </p:bgPr>
    </p:bg>
    <p:spTree>
      <p:nvGrpSpPr>
        <p:cNvPr id="1" name=""/>
        <p:cNvGrpSpPr/>
        <p:nvPr/>
      </p:nvGrpSpPr>
      <p:grpSpPr>
        <a:xfrm>
          <a:off x="0" y="0"/>
          <a:ext cx="0" cy="0"/>
          <a:chOff x="0" y="0"/>
          <a:chExt cx="0" cy="0"/>
        </a:xfrm>
      </p:grpSpPr>
      <p:sp>
        <p:nvSpPr>
          <p:cNvPr name="AutoShape 2" id="2"/>
          <p:cNvSpPr/>
          <p:nvPr/>
        </p:nvSpPr>
        <p:spPr>
          <a:xfrm>
            <a:off x="4127053" y="622597"/>
            <a:ext cx="12557521" cy="0"/>
          </a:xfrm>
          <a:prstGeom prst="line">
            <a:avLst/>
          </a:prstGeom>
          <a:ln cap="flat" w="19050">
            <a:solidFill>
              <a:srgbClr val="39352C"/>
            </a:solidFill>
            <a:prstDash val="solid"/>
            <a:headEnd type="none" len="sm" w="sm"/>
            <a:tailEnd type="none" len="sm" w="sm"/>
          </a:ln>
        </p:spPr>
      </p:sp>
      <p:sp>
        <p:nvSpPr>
          <p:cNvPr name="TextBox 3" id="3"/>
          <p:cNvSpPr txBox="true"/>
          <p:nvPr/>
        </p:nvSpPr>
        <p:spPr>
          <a:xfrm rot="0">
            <a:off x="1028700" y="441923"/>
            <a:ext cx="3098353" cy="323249"/>
          </a:xfrm>
          <a:prstGeom prst="rect">
            <a:avLst/>
          </a:prstGeom>
        </p:spPr>
        <p:txBody>
          <a:bodyPr anchor="t" rtlCol="false" tIns="0" lIns="0" bIns="0" rIns="0">
            <a:spAutoFit/>
          </a:bodyPr>
          <a:lstStyle/>
          <a:p>
            <a:pPr algn="l" marL="0" indent="0" lvl="0">
              <a:lnSpc>
                <a:spcPts val="2658"/>
              </a:lnSpc>
              <a:spcBef>
                <a:spcPct val="0"/>
              </a:spcBef>
            </a:pPr>
            <a:r>
              <a:rPr lang="en-US" sz="1898" spc="56">
                <a:solidFill>
                  <a:srgbClr val="39352C"/>
                </a:solidFill>
                <a:latin typeface="Cerebri"/>
                <a:ea typeface="Cerebri"/>
                <a:cs typeface="Cerebri"/>
                <a:sym typeface="Cerebri"/>
              </a:rPr>
              <a:t>METRICFLOW</a:t>
            </a:r>
          </a:p>
        </p:txBody>
      </p:sp>
      <p:sp>
        <p:nvSpPr>
          <p:cNvPr name="TextBox 4" id="4"/>
          <p:cNvSpPr txBox="true"/>
          <p:nvPr/>
        </p:nvSpPr>
        <p:spPr>
          <a:xfrm rot="0">
            <a:off x="441601" y="4923261"/>
            <a:ext cx="2857500" cy="912071"/>
          </a:xfrm>
          <a:prstGeom prst="rect">
            <a:avLst/>
          </a:prstGeom>
        </p:spPr>
        <p:txBody>
          <a:bodyPr anchor="t" rtlCol="false" tIns="0" lIns="0" bIns="0" rIns="0">
            <a:spAutoFit/>
          </a:bodyPr>
          <a:lstStyle/>
          <a:p>
            <a:pPr algn="l">
              <a:lnSpc>
                <a:spcPts val="3546"/>
              </a:lnSpc>
            </a:pPr>
            <a:r>
              <a:rPr lang="en-US" sz="3377" b="true">
                <a:solidFill>
                  <a:srgbClr val="0054C5"/>
                </a:solidFill>
                <a:latin typeface="Cerebri Bold"/>
                <a:ea typeface="Cerebri Bold"/>
                <a:cs typeface="Cerebri Bold"/>
                <a:sym typeface="Cerebri Bold"/>
              </a:rPr>
              <a:t>Modules</a:t>
            </a:r>
          </a:p>
          <a:p>
            <a:pPr algn="l">
              <a:lnSpc>
                <a:spcPts val="3546"/>
              </a:lnSpc>
            </a:pPr>
            <a:r>
              <a:rPr lang="en-US" sz="3377" b="true">
                <a:solidFill>
                  <a:srgbClr val="0054C5"/>
                </a:solidFill>
                <a:latin typeface="Cerebri Bold"/>
                <a:ea typeface="Cerebri Bold"/>
                <a:cs typeface="Cerebri Bold"/>
                <a:sym typeface="Cerebri Bold"/>
              </a:rPr>
              <a:t>Implemented</a:t>
            </a:r>
          </a:p>
        </p:txBody>
      </p:sp>
      <p:grpSp>
        <p:nvGrpSpPr>
          <p:cNvPr name="Group 5" id="5"/>
          <p:cNvGrpSpPr/>
          <p:nvPr/>
        </p:nvGrpSpPr>
        <p:grpSpPr>
          <a:xfrm rot="0">
            <a:off x="4381500" y="1676400"/>
            <a:ext cx="6276975" cy="2057400"/>
            <a:chOff x="0" y="0"/>
            <a:chExt cx="8369300" cy="2743200"/>
          </a:xfrm>
        </p:grpSpPr>
        <p:sp>
          <p:nvSpPr>
            <p:cNvPr name="Freeform 6" id="6"/>
            <p:cNvSpPr/>
            <p:nvPr/>
          </p:nvSpPr>
          <p:spPr>
            <a:xfrm flipH="false" flipV="false" rot="0">
              <a:off x="0" y="0"/>
              <a:ext cx="8369300" cy="2743200"/>
            </a:xfrm>
            <a:custGeom>
              <a:avLst/>
              <a:gdLst/>
              <a:ahLst/>
              <a:cxnLst/>
              <a:rect r="r" b="b" t="t" l="l"/>
              <a:pathLst>
                <a:path h="2743200" w="8369300">
                  <a:moveTo>
                    <a:pt x="101600" y="0"/>
                  </a:moveTo>
                  <a:lnTo>
                    <a:pt x="8267700" y="0"/>
                  </a:lnTo>
                  <a:cubicBezTo>
                    <a:pt x="8323812" y="0"/>
                    <a:pt x="8369300" y="45488"/>
                    <a:pt x="8369300" y="101600"/>
                  </a:cubicBezTo>
                  <a:lnTo>
                    <a:pt x="8369300" y="2641600"/>
                  </a:lnTo>
                  <a:cubicBezTo>
                    <a:pt x="8369300" y="2697712"/>
                    <a:pt x="8323812" y="2743200"/>
                    <a:pt x="8267700" y="2743200"/>
                  </a:cubicBezTo>
                  <a:lnTo>
                    <a:pt x="101600" y="2743200"/>
                  </a:lnTo>
                  <a:cubicBezTo>
                    <a:pt x="45488" y="2743200"/>
                    <a:pt x="0" y="2697712"/>
                    <a:pt x="0" y="2641600"/>
                  </a:cubicBezTo>
                  <a:lnTo>
                    <a:pt x="0" y="101600"/>
                  </a:lnTo>
                  <a:cubicBezTo>
                    <a:pt x="0" y="45488"/>
                    <a:pt x="45488" y="0"/>
                    <a:pt x="101600" y="0"/>
                  </a:cubicBezTo>
                  <a:close/>
                </a:path>
              </a:pathLst>
            </a:custGeom>
            <a:solidFill>
              <a:srgbClr val="F8F6F2"/>
            </a:solidFill>
            <a:ln w="9525" cap="sq">
              <a:solidFill>
                <a:srgbClr val="D7D2CA"/>
              </a:solidFill>
              <a:prstDash val="solid"/>
              <a:miter/>
            </a:ln>
          </p:spPr>
        </p:sp>
        <p:sp>
          <p:nvSpPr>
            <p:cNvPr name="TextBox 7" id="7"/>
            <p:cNvSpPr txBox="true"/>
            <p:nvPr/>
          </p:nvSpPr>
          <p:spPr>
            <a:xfrm>
              <a:off x="0" y="-38100"/>
              <a:ext cx="8369300" cy="27813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4610100" y="1866900"/>
            <a:ext cx="457200" cy="231140"/>
          </a:xfrm>
          <a:prstGeom prst="rect">
            <a:avLst/>
          </a:prstGeom>
        </p:spPr>
        <p:txBody>
          <a:bodyPr anchor="t" rtlCol="false" tIns="0" lIns="0" bIns="0" rIns="0">
            <a:spAutoFit/>
          </a:bodyPr>
          <a:lstStyle/>
          <a:p>
            <a:pPr algn="l">
              <a:lnSpc>
                <a:spcPts val="1960"/>
              </a:lnSpc>
            </a:pPr>
            <a:r>
              <a:rPr lang="en-US" sz="1400" b="true">
                <a:solidFill>
                  <a:srgbClr val="0054C5"/>
                </a:solidFill>
                <a:latin typeface="Cerebri Bold"/>
                <a:ea typeface="Cerebri Bold"/>
                <a:cs typeface="Cerebri Bold"/>
                <a:sym typeface="Cerebri Bold"/>
              </a:rPr>
              <a:t>01</a:t>
            </a:r>
          </a:p>
        </p:txBody>
      </p:sp>
      <p:sp>
        <p:nvSpPr>
          <p:cNvPr name="TextBox 9" id="9"/>
          <p:cNvSpPr txBox="true"/>
          <p:nvPr/>
        </p:nvSpPr>
        <p:spPr>
          <a:xfrm rot="0">
            <a:off x="5200650" y="1885950"/>
            <a:ext cx="5229225" cy="239395"/>
          </a:xfrm>
          <a:prstGeom prst="rect">
            <a:avLst/>
          </a:prstGeom>
        </p:spPr>
        <p:txBody>
          <a:bodyPr anchor="t" rtlCol="false" tIns="0" lIns="0" bIns="0" rIns="0">
            <a:spAutoFit/>
          </a:bodyPr>
          <a:lstStyle/>
          <a:p>
            <a:pPr algn="l">
              <a:lnSpc>
                <a:spcPts val="1955"/>
              </a:lnSpc>
            </a:pPr>
            <a:r>
              <a:rPr lang="en-US" sz="1700" b="true">
                <a:solidFill>
                  <a:srgbClr val="39352C"/>
                </a:solidFill>
                <a:latin typeface="Cerebri Bold"/>
                <a:ea typeface="Cerebri Bold"/>
                <a:cs typeface="Cerebri Bold"/>
                <a:sym typeface="Cerebri Bold"/>
              </a:rPr>
              <a:t>Overview Dashboard</a:t>
            </a:r>
          </a:p>
        </p:txBody>
      </p:sp>
      <p:sp>
        <p:nvSpPr>
          <p:cNvPr name="TextBox 10" id="10"/>
          <p:cNvSpPr txBox="true"/>
          <p:nvPr/>
        </p:nvSpPr>
        <p:spPr>
          <a:xfrm rot="0">
            <a:off x="4610100" y="2400300"/>
            <a:ext cx="5819775" cy="403225"/>
          </a:xfrm>
          <a:prstGeom prst="rect">
            <a:avLst/>
          </a:prstGeom>
        </p:spPr>
        <p:txBody>
          <a:bodyPr anchor="t" rtlCol="false" tIns="0" lIns="0" bIns="0" rIns="0">
            <a:spAutoFit/>
          </a:bodyPr>
          <a:lstStyle/>
          <a:p>
            <a:pPr algn="l">
              <a:lnSpc>
                <a:spcPts val="1625"/>
              </a:lnSpc>
            </a:pPr>
            <a:r>
              <a:rPr lang="en-US" sz="1250">
                <a:solidFill>
                  <a:srgbClr val="39352C"/>
                </a:solidFill>
                <a:latin typeface="Cerebri"/>
                <a:ea typeface="Cerebri"/>
                <a:cs typeface="Cerebri"/>
                <a:sym typeface="Cerebri"/>
              </a:rPr>
              <a:t>Displays key performance indicators such as revenue, orders, customers, and profit; presents business trends through charts and summaries.</a:t>
            </a:r>
          </a:p>
        </p:txBody>
      </p:sp>
      <p:grpSp>
        <p:nvGrpSpPr>
          <p:cNvPr name="Group 11" id="11"/>
          <p:cNvGrpSpPr/>
          <p:nvPr/>
        </p:nvGrpSpPr>
        <p:grpSpPr>
          <a:xfrm rot="0">
            <a:off x="10982325" y="1676400"/>
            <a:ext cx="6276975" cy="2057400"/>
            <a:chOff x="0" y="0"/>
            <a:chExt cx="8369300" cy="2743200"/>
          </a:xfrm>
        </p:grpSpPr>
        <p:sp>
          <p:nvSpPr>
            <p:cNvPr name="Freeform 12" id="12"/>
            <p:cNvSpPr/>
            <p:nvPr/>
          </p:nvSpPr>
          <p:spPr>
            <a:xfrm flipH="false" flipV="false" rot="0">
              <a:off x="0" y="0"/>
              <a:ext cx="8369300" cy="2743200"/>
            </a:xfrm>
            <a:custGeom>
              <a:avLst/>
              <a:gdLst/>
              <a:ahLst/>
              <a:cxnLst/>
              <a:rect r="r" b="b" t="t" l="l"/>
              <a:pathLst>
                <a:path h="2743200" w="8369300">
                  <a:moveTo>
                    <a:pt x="101600" y="0"/>
                  </a:moveTo>
                  <a:lnTo>
                    <a:pt x="8267700" y="0"/>
                  </a:lnTo>
                  <a:cubicBezTo>
                    <a:pt x="8323812" y="0"/>
                    <a:pt x="8369300" y="45488"/>
                    <a:pt x="8369300" y="101600"/>
                  </a:cubicBezTo>
                  <a:lnTo>
                    <a:pt x="8369300" y="2641600"/>
                  </a:lnTo>
                  <a:cubicBezTo>
                    <a:pt x="8369300" y="2697712"/>
                    <a:pt x="8323812" y="2743200"/>
                    <a:pt x="8267700" y="2743200"/>
                  </a:cubicBezTo>
                  <a:lnTo>
                    <a:pt x="101600" y="2743200"/>
                  </a:lnTo>
                  <a:cubicBezTo>
                    <a:pt x="45488" y="2743200"/>
                    <a:pt x="0" y="2697712"/>
                    <a:pt x="0" y="2641600"/>
                  </a:cubicBezTo>
                  <a:lnTo>
                    <a:pt x="0" y="101600"/>
                  </a:lnTo>
                  <a:cubicBezTo>
                    <a:pt x="0" y="45488"/>
                    <a:pt x="45488" y="0"/>
                    <a:pt x="101600" y="0"/>
                  </a:cubicBezTo>
                  <a:close/>
                </a:path>
              </a:pathLst>
            </a:custGeom>
            <a:solidFill>
              <a:srgbClr val="F8F6F2"/>
            </a:solidFill>
            <a:ln w="9525" cap="sq">
              <a:solidFill>
                <a:srgbClr val="D7D2CA"/>
              </a:solidFill>
              <a:prstDash val="solid"/>
              <a:miter/>
            </a:ln>
          </p:spPr>
        </p:sp>
        <p:sp>
          <p:nvSpPr>
            <p:cNvPr name="TextBox 13" id="13"/>
            <p:cNvSpPr txBox="true"/>
            <p:nvPr/>
          </p:nvSpPr>
          <p:spPr>
            <a:xfrm>
              <a:off x="0" y="-38100"/>
              <a:ext cx="8369300" cy="27813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1210925" y="1866900"/>
            <a:ext cx="457200" cy="231140"/>
          </a:xfrm>
          <a:prstGeom prst="rect">
            <a:avLst/>
          </a:prstGeom>
        </p:spPr>
        <p:txBody>
          <a:bodyPr anchor="t" rtlCol="false" tIns="0" lIns="0" bIns="0" rIns="0">
            <a:spAutoFit/>
          </a:bodyPr>
          <a:lstStyle/>
          <a:p>
            <a:pPr algn="l">
              <a:lnSpc>
                <a:spcPts val="1960"/>
              </a:lnSpc>
            </a:pPr>
            <a:r>
              <a:rPr lang="en-US" sz="1400" b="true">
                <a:solidFill>
                  <a:srgbClr val="0054C5"/>
                </a:solidFill>
                <a:latin typeface="Cerebri Bold"/>
                <a:ea typeface="Cerebri Bold"/>
                <a:cs typeface="Cerebri Bold"/>
                <a:sym typeface="Cerebri Bold"/>
              </a:rPr>
              <a:t>02</a:t>
            </a:r>
          </a:p>
        </p:txBody>
      </p:sp>
      <p:sp>
        <p:nvSpPr>
          <p:cNvPr name="TextBox 15" id="15"/>
          <p:cNvSpPr txBox="true"/>
          <p:nvPr/>
        </p:nvSpPr>
        <p:spPr>
          <a:xfrm rot="0">
            <a:off x="11801475" y="1885950"/>
            <a:ext cx="5229225" cy="239395"/>
          </a:xfrm>
          <a:prstGeom prst="rect">
            <a:avLst/>
          </a:prstGeom>
        </p:spPr>
        <p:txBody>
          <a:bodyPr anchor="t" rtlCol="false" tIns="0" lIns="0" bIns="0" rIns="0">
            <a:spAutoFit/>
          </a:bodyPr>
          <a:lstStyle/>
          <a:p>
            <a:pPr algn="l">
              <a:lnSpc>
                <a:spcPts val="1955"/>
              </a:lnSpc>
            </a:pPr>
            <a:r>
              <a:rPr lang="en-US" sz="1700" b="true">
                <a:solidFill>
                  <a:srgbClr val="39352C"/>
                </a:solidFill>
                <a:latin typeface="Cerebri Bold"/>
                <a:ea typeface="Cerebri Bold"/>
                <a:cs typeface="Cerebri Bold"/>
                <a:sym typeface="Cerebri Bold"/>
              </a:rPr>
              <a:t>Analytics Module</a:t>
            </a:r>
          </a:p>
        </p:txBody>
      </p:sp>
      <p:sp>
        <p:nvSpPr>
          <p:cNvPr name="TextBox 16" id="16"/>
          <p:cNvSpPr txBox="true"/>
          <p:nvPr/>
        </p:nvSpPr>
        <p:spPr>
          <a:xfrm rot="0">
            <a:off x="11210925" y="2400300"/>
            <a:ext cx="5819775" cy="403225"/>
          </a:xfrm>
          <a:prstGeom prst="rect">
            <a:avLst/>
          </a:prstGeom>
        </p:spPr>
        <p:txBody>
          <a:bodyPr anchor="t" rtlCol="false" tIns="0" lIns="0" bIns="0" rIns="0">
            <a:spAutoFit/>
          </a:bodyPr>
          <a:lstStyle/>
          <a:p>
            <a:pPr algn="l">
              <a:lnSpc>
                <a:spcPts val="1625"/>
              </a:lnSpc>
            </a:pPr>
            <a:r>
              <a:rPr lang="en-US" sz="1250">
                <a:solidFill>
                  <a:srgbClr val="39352C"/>
                </a:solidFill>
                <a:latin typeface="Cerebri"/>
                <a:ea typeface="Cerebri"/>
                <a:cs typeface="Cerebri"/>
                <a:sym typeface="Cerebri"/>
              </a:rPr>
              <a:t>Provides revenue comparisons, category performance, customer segments, and geographic revenue views.</a:t>
            </a:r>
          </a:p>
        </p:txBody>
      </p:sp>
      <p:grpSp>
        <p:nvGrpSpPr>
          <p:cNvPr name="Group 17" id="17"/>
          <p:cNvGrpSpPr/>
          <p:nvPr/>
        </p:nvGrpSpPr>
        <p:grpSpPr>
          <a:xfrm rot="0">
            <a:off x="4381500" y="4282123"/>
            <a:ext cx="6276975" cy="2057400"/>
            <a:chOff x="0" y="0"/>
            <a:chExt cx="8369300" cy="2743200"/>
          </a:xfrm>
        </p:grpSpPr>
        <p:sp>
          <p:nvSpPr>
            <p:cNvPr name="Freeform 18" id="18"/>
            <p:cNvSpPr/>
            <p:nvPr/>
          </p:nvSpPr>
          <p:spPr>
            <a:xfrm flipH="false" flipV="false" rot="0">
              <a:off x="0" y="0"/>
              <a:ext cx="8369300" cy="2743200"/>
            </a:xfrm>
            <a:custGeom>
              <a:avLst/>
              <a:gdLst/>
              <a:ahLst/>
              <a:cxnLst/>
              <a:rect r="r" b="b" t="t" l="l"/>
              <a:pathLst>
                <a:path h="2743200" w="8369300">
                  <a:moveTo>
                    <a:pt x="101600" y="0"/>
                  </a:moveTo>
                  <a:lnTo>
                    <a:pt x="8267700" y="0"/>
                  </a:lnTo>
                  <a:cubicBezTo>
                    <a:pt x="8323812" y="0"/>
                    <a:pt x="8369300" y="45488"/>
                    <a:pt x="8369300" y="101600"/>
                  </a:cubicBezTo>
                  <a:lnTo>
                    <a:pt x="8369300" y="2641600"/>
                  </a:lnTo>
                  <a:cubicBezTo>
                    <a:pt x="8369300" y="2697712"/>
                    <a:pt x="8323812" y="2743200"/>
                    <a:pt x="8267700" y="2743200"/>
                  </a:cubicBezTo>
                  <a:lnTo>
                    <a:pt x="101600" y="2743200"/>
                  </a:lnTo>
                  <a:cubicBezTo>
                    <a:pt x="45488" y="2743200"/>
                    <a:pt x="0" y="2697712"/>
                    <a:pt x="0" y="2641600"/>
                  </a:cubicBezTo>
                  <a:lnTo>
                    <a:pt x="0" y="101600"/>
                  </a:lnTo>
                  <a:cubicBezTo>
                    <a:pt x="0" y="45488"/>
                    <a:pt x="45488" y="0"/>
                    <a:pt x="101600" y="0"/>
                  </a:cubicBezTo>
                  <a:close/>
                </a:path>
              </a:pathLst>
            </a:custGeom>
            <a:solidFill>
              <a:srgbClr val="F8F6F2"/>
            </a:solidFill>
            <a:ln w="9525" cap="sq">
              <a:solidFill>
                <a:srgbClr val="D7D2CA"/>
              </a:solidFill>
              <a:prstDash val="solid"/>
              <a:miter/>
            </a:ln>
          </p:spPr>
        </p:sp>
        <p:sp>
          <p:nvSpPr>
            <p:cNvPr name="TextBox 19" id="19"/>
            <p:cNvSpPr txBox="true"/>
            <p:nvPr/>
          </p:nvSpPr>
          <p:spPr>
            <a:xfrm>
              <a:off x="0" y="-38100"/>
              <a:ext cx="8369300" cy="27813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4610100" y="4566603"/>
            <a:ext cx="457200" cy="231140"/>
          </a:xfrm>
          <a:prstGeom prst="rect">
            <a:avLst/>
          </a:prstGeom>
        </p:spPr>
        <p:txBody>
          <a:bodyPr anchor="t" rtlCol="false" tIns="0" lIns="0" bIns="0" rIns="0">
            <a:spAutoFit/>
          </a:bodyPr>
          <a:lstStyle/>
          <a:p>
            <a:pPr algn="l">
              <a:lnSpc>
                <a:spcPts val="1960"/>
              </a:lnSpc>
            </a:pPr>
            <a:r>
              <a:rPr lang="en-US" sz="1400" b="true">
                <a:solidFill>
                  <a:srgbClr val="0054C5"/>
                </a:solidFill>
                <a:latin typeface="Cerebri Bold"/>
                <a:ea typeface="Cerebri Bold"/>
                <a:cs typeface="Cerebri Bold"/>
                <a:sym typeface="Cerebri Bold"/>
              </a:rPr>
              <a:t>03</a:t>
            </a:r>
          </a:p>
        </p:txBody>
      </p:sp>
      <p:sp>
        <p:nvSpPr>
          <p:cNvPr name="TextBox 21" id="21"/>
          <p:cNvSpPr txBox="true"/>
          <p:nvPr/>
        </p:nvSpPr>
        <p:spPr>
          <a:xfrm rot="0">
            <a:off x="5067300" y="4581525"/>
            <a:ext cx="5229225" cy="239395"/>
          </a:xfrm>
          <a:prstGeom prst="rect">
            <a:avLst/>
          </a:prstGeom>
        </p:spPr>
        <p:txBody>
          <a:bodyPr anchor="t" rtlCol="false" tIns="0" lIns="0" bIns="0" rIns="0">
            <a:spAutoFit/>
          </a:bodyPr>
          <a:lstStyle/>
          <a:p>
            <a:pPr algn="l">
              <a:lnSpc>
                <a:spcPts val="1955"/>
              </a:lnSpc>
            </a:pPr>
            <a:r>
              <a:rPr lang="en-US" sz="1700" b="true">
                <a:solidFill>
                  <a:srgbClr val="39352C"/>
                </a:solidFill>
                <a:latin typeface="Cerebri Bold"/>
                <a:ea typeface="Cerebri Bold"/>
                <a:cs typeface="Cerebri Bold"/>
                <a:sym typeface="Cerebri Bold"/>
              </a:rPr>
              <a:t>Customer Management Module</a:t>
            </a:r>
          </a:p>
        </p:txBody>
      </p:sp>
      <p:sp>
        <p:nvSpPr>
          <p:cNvPr name="TextBox 22" id="22"/>
          <p:cNvSpPr txBox="true"/>
          <p:nvPr/>
        </p:nvSpPr>
        <p:spPr>
          <a:xfrm rot="0">
            <a:off x="4610100" y="5440045"/>
            <a:ext cx="5819775" cy="203200"/>
          </a:xfrm>
          <a:prstGeom prst="rect">
            <a:avLst/>
          </a:prstGeom>
        </p:spPr>
        <p:txBody>
          <a:bodyPr anchor="t" rtlCol="false" tIns="0" lIns="0" bIns="0" rIns="0">
            <a:spAutoFit/>
          </a:bodyPr>
          <a:lstStyle/>
          <a:p>
            <a:pPr algn="l">
              <a:lnSpc>
                <a:spcPts val="1625"/>
              </a:lnSpc>
            </a:pPr>
            <a:r>
              <a:rPr lang="en-US" sz="1250">
                <a:solidFill>
                  <a:srgbClr val="39352C"/>
                </a:solidFill>
                <a:latin typeface="Cerebri"/>
                <a:ea typeface="Cerebri"/>
                <a:cs typeface="Cerebri"/>
                <a:sym typeface="Cerebri"/>
              </a:rPr>
              <a:t>Displays customer information with search and status filtering.</a:t>
            </a:r>
          </a:p>
        </p:txBody>
      </p:sp>
      <p:grpSp>
        <p:nvGrpSpPr>
          <p:cNvPr name="Group 23" id="23"/>
          <p:cNvGrpSpPr/>
          <p:nvPr/>
        </p:nvGrpSpPr>
        <p:grpSpPr>
          <a:xfrm rot="0">
            <a:off x="10982325" y="4282123"/>
            <a:ext cx="6276975" cy="2057400"/>
            <a:chOff x="0" y="0"/>
            <a:chExt cx="8369300" cy="2743200"/>
          </a:xfrm>
        </p:grpSpPr>
        <p:sp>
          <p:nvSpPr>
            <p:cNvPr name="Freeform 24" id="24"/>
            <p:cNvSpPr/>
            <p:nvPr/>
          </p:nvSpPr>
          <p:spPr>
            <a:xfrm flipH="false" flipV="false" rot="0">
              <a:off x="0" y="0"/>
              <a:ext cx="8369300" cy="2743200"/>
            </a:xfrm>
            <a:custGeom>
              <a:avLst/>
              <a:gdLst/>
              <a:ahLst/>
              <a:cxnLst/>
              <a:rect r="r" b="b" t="t" l="l"/>
              <a:pathLst>
                <a:path h="2743200" w="8369300">
                  <a:moveTo>
                    <a:pt x="101600" y="0"/>
                  </a:moveTo>
                  <a:lnTo>
                    <a:pt x="8267700" y="0"/>
                  </a:lnTo>
                  <a:cubicBezTo>
                    <a:pt x="8323812" y="0"/>
                    <a:pt x="8369300" y="45488"/>
                    <a:pt x="8369300" y="101600"/>
                  </a:cubicBezTo>
                  <a:lnTo>
                    <a:pt x="8369300" y="2641600"/>
                  </a:lnTo>
                  <a:cubicBezTo>
                    <a:pt x="8369300" y="2697712"/>
                    <a:pt x="8323812" y="2743200"/>
                    <a:pt x="8267700" y="2743200"/>
                  </a:cubicBezTo>
                  <a:lnTo>
                    <a:pt x="101600" y="2743200"/>
                  </a:lnTo>
                  <a:cubicBezTo>
                    <a:pt x="45488" y="2743200"/>
                    <a:pt x="0" y="2697712"/>
                    <a:pt x="0" y="2641600"/>
                  </a:cubicBezTo>
                  <a:lnTo>
                    <a:pt x="0" y="101600"/>
                  </a:lnTo>
                  <a:cubicBezTo>
                    <a:pt x="0" y="45488"/>
                    <a:pt x="45488" y="0"/>
                    <a:pt x="101600" y="0"/>
                  </a:cubicBezTo>
                  <a:close/>
                </a:path>
              </a:pathLst>
            </a:custGeom>
            <a:solidFill>
              <a:srgbClr val="F8F6F2"/>
            </a:solidFill>
            <a:ln w="9525" cap="sq">
              <a:solidFill>
                <a:srgbClr val="D7D2CA"/>
              </a:solidFill>
              <a:prstDash val="solid"/>
              <a:miter/>
            </a:ln>
          </p:spPr>
        </p:sp>
        <p:sp>
          <p:nvSpPr>
            <p:cNvPr name="TextBox 25" id="25"/>
            <p:cNvSpPr txBox="true"/>
            <p:nvPr/>
          </p:nvSpPr>
          <p:spPr>
            <a:xfrm>
              <a:off x="0" y="-38100"/>
              <a:ext cx="8369300" cy="27813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11210925" y="4566603"/>
            <a:ext cx="457200" cy="231140"/>
          </a:xfrm>
          <a:prstGeom prst="rect">
            <a:avLst/>
          </a:prstGeom>
        </p:spPr>
        <p:txBody>
          <a:bodyPr anchor="t" rtlCol="false" tIns="0" lIns="0" bIns="0" rIns="0">
            <a:spAutoFit/>
          </a:bodyPr>
          <a:lstStyle/>
          <a:p>
            <a:pPr algn="l">
              <a:lnSpc>
                <a:spcPts val="1960"/>
              </a:lnSpc>
            </a:pPr>
            <a:r>
              <a:rPr lang="en-US" sz="1400" b="true">
                <a:solidFill>
                  <a:srgbClr val="0054C5"/>
                </a:solidFill>
                <a:latin typeface="Cerebri Bold"/>
                <a:ea typeface="Cerebri Bold"/>
                <a:cs typeface="Cerebri Bold"/>
                <a:sym typeface="Cerebri Bold"/>
              </a:rPr>
              <a:t>04</a:t>
            </a:r>
          </a:p>
        </p:txBody>
      </p:sp>
      <p:sp>
        <p:nvSpPr>
          <p:cNvPr name="TextBox 27" id="27"/>
          <p:cNvSpPr txBox="true"/>
          <p:nvPr/>
        </p:nvSpPr>
        <p:spPr>
          <a:xfrm rot="0">
            <a:off x="11801475" y="4581525"/>
            <a:ext cx="5229225" cy="239395"/>
          </a:xfrm>
          <a:prstGeom prst="rect">
            <a:avLst/>
          </a:prstGeom>
        </p:spPr>
        <p:txBody>
          <a:bodyPr anchor="t" rtlCol="false" tIns="0" lIns="0" bIns="0" rIns="0">
            <a:spAutoFit/>
          </a:bodyPr>
          <a:lstStyle/>
          <a:p>
            <a:pPr algn="l">
              <a:lnSpc>
                <a:spcPts val="1955"/>
              </a:lnSpc>
            </a:pPr>
            <a:r>
              <a:rPr lang="en-US" sz="1700" b="true">
                <a:solidFill>
                  <a:srgbClr val="39352C"/>
                </a:solidFill>
                <a:latin typeface="Cerebri Bold"/>
                <a:ea typeface="Cerebri Bold"/>
                <a:cs typeface="Cerebri Bold"/>
                <a:sym typeface="Cerebri Bold"/>
              </a:rPr>
              <a:t>Transaction Management Module</a:t>
            </a:r>
          </a:p>
        </p:txBody>
      </p:sp>
      <p:sp>
        <p:nvSpPr>
          <p:cNvPr name="TextBox 28" id="28"/>
          <p:cNvSpPr txBox="true"/>
          <p:nvPr/>
        </p:nvSpPr>
        <p:spPr>
          <a:xfrm rot="0">
            <a:off x="11344275" y="5432108"/>
            <a:ext cx="5819775" cy="403225"/>
          </a:xfrm>
          <a:prstGeom prst="rect">
            <a:avLst/>
          </a:prstGeom>
        </p:spPr>
        <p:txBody>
          <a:bodyPr anchor="t" rtlCol="false" tIns="0" lIns="0" bIns="0" rIns="0">
            <a:spAutoFit/>
          </a:bodyPr>
          <a:lstStyle/>
          <a:p>
            <a:pPr algn="l">
              <a:lnSpc>
                <a:spcPts val="1625"/>
              </a:lnSpc>
            </a:pPr>
            <a:r>
              <a:rPr lang="en-US" sz="1250">
                <a:solidFill>
                  <a:srgbClr val="39352C"/>
                </a:solidFill>
                <a:latin typeface="Cerebri"/>
                <a:ea typeface="Cerebri"/>
                <a:cs typeface="Cerebri"/>
                <a:sym typeface="Cerebri"/>
              </a:rPr>
              <a:t>Supports transaction search, status filtering, sorting, pagination, and CSV export.</a:t>
            </a:r>
          </a:p>
        </p:txBody>
      </p:sp>
      <p:grpSp>
        <p:nvGrpSpPr>
          <p:cNvPr name="Group 29" id="29"/>
          <p:cNvGrpSpPr/>
          <p:nvPr/>
        </p:nvGrpSpPr>
        <p:grpSpPr>
          <a:xfrm rot="0">
            <a:off x="4381500" y="7183437"/>
            <a:ext cx="6276975" cy="2057400"/>
            <a:chOff x="0" y="0"/>
            <a:chExt cx="8369300" cy="2743200"/>
          </a:xfrm>
        </p:grpSpPr>
        <p:sp>
          <p:nvSpPr>
            <p:cNvPr name="Freeform 30" id="30"/>
            <p:cNvSpPr/>
            <p:nvPr/>
          </p:nvSpPr>
          <p:spPr>
            <a:xfrm flipH="false" flipV="false" rot="0">
              <a:off x="0" y="0"/>
              <a:ext cx="8369300" cy="2743200"/>
            </a:xfrm>
            <a:custGeom>
              <a:avLst/>
              <a:gdLst/>
              <a:ahLst/>
              <a:cxnLst/>
              <a:rect r="r" b="b" t="t" l="l"/>
              <a:pathLst>
                <a:path h="2743200" w="8369300">
                  <a:moveTo>
                    <a:pt x="101600" y="0"/>
                  </a:moveTo>
                  <a:lnTo>
                    <a:pt x="8267700" y="0"/>
                  </a:lnTo>
                  <a:cubicBezTo>
                    <a:pt x="8323812" y="0"/>
                    <a:pt x="8369300" y="45488"/>
                    <a:pt x="8369300" y="101600"/>
                  </a:cubicBezTo>
                  <a:lnTo>
                    <a:pt x="8369300" y="2641600"/>
                  </a:lnTo>
                  <a:cubicBezTo>
                    <a:pt x="8369300" y="2697712"/>
                    <a:pt x="8323812" y="2743200"/>
                    <a:pt x="8267700" y="2743200"/>
                  </a:cubicBezTo>
                  <a:lnTo>
                    <a:pt x="101600" y="2743200"/>
                  </a:lnTo>
                  <a:cubicBezTo>
                    <a:pt x="45488" y="2743200"/>
                    <a:pt x="0" y="2697712"/>
                    <a:pt x="0" y="2641600"/>
                  </a:cubicBezTo>
                  <a:lnTo>
                    <a:pt x="0" y="101600"/>
                  </a:lnTo>
                  <a:cubicBezTo>
                    <a:pt x="0" y="45488"/>
                    <a:pt x="45488" y="0"/>
                    <a:pt x="101600" y="0"/>
                  </a:cubicBezTo>
                  <a:close/>
                </a:path>
              </a:pathLst>
            </a:custGeom>
            <a:solidFill>
              <a:srgbClr val="F8F6F2"/>
            </a:solidFill>
            <a:ln w="9525" cap="sq">
              <a:solidFill>
                <a:srgbClr val="D7D2CA"/>
              </a:solidFill>
              <a:prstDash val="solid"/>
              <a:miter/>
            </a:ln>
          </p:spPr>
        </p:sp>
        <p:sp>
          <p:nvSpPr>
            <p:cNvPr name="TextBox 31" id="31"/>
            <p:cNvSpPr txBox="true"/>
            <p:nvPr/>
          </p:nvSpPr>
          <p:spPr>
            <a:xfrm>
              <a:off x="0" y="-38100"/>
              <a:ext cx="8369300" cy="27813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4610100" y="7356475"/>
            <a:ext cx="457200" cy="231140"/>
          </a:xfrm>
          <a:prstGeom prst="rect">
            <a:avLst/>
          </a:prstGeom>
        </p:spPr>
        <p:txBody>
          <a:bodyPr anchor="t" rtlCol="false" tIns="0" lIns="0" bIns="0" rIns="0">
            <a:spAutoFit/>
          </a:bodyPr>
          <a:lstStyle/>
          <a:p>
            <a:pPr algn="l">
              <a:lnSpc>
                <a:spcPts val="1960"/>
              </a:lnSpc>
            </a:pPr>
            <a:r>
              <a:rPr lang="en-US" sz="1400" b="true">
                <a:solidFill>
                  <a:srgbClr val="0054C5"/>
                </a:solidFill>
                <a:latin typeface="Cerebri Bold"/>
                <a:ea typeface="Cerebri Bold"/>
                <a:cs typeface="Cerebri Bold"/>
                <a:sym typeface="Cerebri Bold"/>
              </a:rPr>
              <a:t>05</a:t>
            </a:r>
          </a:p>
        </p:txBody>
      </p:sp>
      <p:sp>
        <p:nvSpPr>
          <p:cNvPr name="TextBox 33" id="33"/>
          <p:cNvSpPr txBox="true"/>
          <p:nvPr/>
        </p:nvSpPr>
        <p:spPr>
          <a:xfrm rot="0">
            <a:off x="5200650" y="7394575"/>
            <a:ext cx="5229225" cy="239395"/>
          </a:xfrm>
          <a:prstGeom prst="rect">
            <a:avLst/>
          </a:prstGeom>
        </p:spPr>
        <p:txBody>
          <a:bodyPr anchor="t" rtlCol="false" tIns="0" lIns="0" bIns="0" rIns="0">
            <a:spAutoFit/>
          </a:bodyPr>
          <a:lstStyle/>
          <a:p>
            <a:pPr algn="l">
              <a:lnSpc>
                <a:spcPts val="1955"/>
              </a:lnSpc>
            </a:pPr>
            <a:r>
              <a:rPr lang="en-US" sz="1700" b="true">
                <a:solidFill>
                  <a:srgbClr val="39352C"/>
                </a:solidFill>
                <a:latin typeface="Cerebri Bold"/>
                <a:ea typeface="Cerebri Bold"/>
                <a:cs typeface="Cerebri Bold"/>
                <a:sym typeface="Cerebri Bold"/>
              </a:rPr>
              <a:t>Product Analytics Module</a:t>
            </a:r>
          </a:p>
        </p:txBody>
      </p:sp>
      <p:sp>
        <p:nvSpPr>
          <p:cNvPr name="TextBox 34" id="34"/>
          <p:cNvSpPr txBox="true"/>
          <p:nvPr/>
        </p:nvSpPr>
        <p:spPr>
          <a:xfrm rot="0">
            <a:off x="4610100" y="8249920"/>
            <a:ext cx="5819775" cy="403225"/>
          </a:xfrm>
          <a:prstGeom prst="rect">
            <a:avLst/>
          </a:prstGeom>
        </p:spPr>
        <p:txBody>
          <a:bodyPr anchor="t" rtlCol="false" tIns="0" lIns="0" bIns="0" rIns="0">
            <a:spAutoFit/>
          </a:bodyPr>
          <a:lstStyle/>
          <a:p>
            <a:pPr algn="l">
              <a:lnSpc>
                <a:spcPts val="1625"/>
              </a:lnSpc>
            </a:pPr>
            <a:r>
              <a:rPr lang="en-US" sz="1250">
                <a:solidFill>
                  <a:srgbClr val="39352C"/>
                </a:solidFill>
                <a:latin typeface="Cerebri"/>
                <a:ea typeface="Cerebri"/>
                <a:cs typeface="Cerebri"/>
                <a:sym typeface="Cerebri"/>
              </a:rPr>
              <a:t>Presents product categories, pricing, subscribers, and monthly recurring revenue (MRR).</a:t>
            </a:r>
          </a:p>
        </p:txBody>
      </p:sp>
      <p:grpSp>
        <p:nvGrpSpPr>
          <p:cNvPr name="Group 35" id="35"/>
          <p:cNvGrpSpPr/>
          <p:nvPr/>
        </p:nvGrpSpPr>
        <p:grpSpPr>
          <a:xfrm rot="0">
            <a:off x="10982325" y="7200900"/>
            <a:ext cx="6276975" cy="2057400"/>
            <a:chOff x="0" y="0"/>
            <a:chExt cx="8369300" cy="2743200"/>
          </a:xfrm>
        </p:grpSpPr>
        <p:sp>
          <p:nvSpPr>
            <p:cNvPr name="Freeform 36" id="36"/>
            <p:cNvSpPr/>
            <p:nvPr/>
          </p:nvSpPr>
          <p:spPr>
            <a:xfrm flipH="false" flipV="false" rot="0">
              <a:off x="0" y="0"/>
              <a:ext cx="8369300" cy="2743200"/>
            </a:xfrm>
            <a:custGeom>
              <a:avLst/>
              <a:gdLst/>
              <a:ahLst/>
              <a:cxnLst/>
              <a:rect r="r" b="b" t="t" l="l"/>
              <a:pathLst>
                <a:path h="2743200" w="8369300">
                  <a:moveTo>
                    <a:pt x="101600" y="0"/>
                  </a:moveTo>
                  <a:lnTo>
                    <a:pt x="8267700" y="0"/>
                  </a:lnTo>
                  <a:cubicBezTo>
                    <a:pt x="8323812" y="0"/>
                    <a:pt x="8369300" y="45488"/>
                    <a:pt x="8369300" y="101600"/>
                  </a:cubicBezTo>
                  <a:lnTo>
                    <a:pt x="8369300" y="2641600"/>
                  </a:lnTo>
                  <a:cubicBezTo>
                    <a:pt x="8369300" y="2697712"/>
                    <a:pt x="8323812" y="2743200"/>
                    <a:pt x="8267700" y="2743200"/>
                  </a:cubicBezTo>
                  <a:lnTo>
                    <a:pt x="101600" y="2743200"/>
                  </a:lnTo>
                  <a:cubicBezTo>
                    <a:pt x="45488" y="2743200"/>
                    <a:pt x="0" y="2697712"/>
                    <a:pt x="0" y="2641600"/>
                  </a:cubicBezTo>
                  <a:lnTo>
                    <a:pt x="0" y="101600"/>
                  </a:lnTo>
                  <a:cubicBezTo>
                    <a:pt x="0" y="45488"/>
                    <a:pt x="45488" y="0"/>
                    <a:pt x="101600" y="0"/>
                  </a:cubicBezTo>
                  <a:close/>
                </a:path>
              </a:pathLst>
            </a:custGeom>
            <a:solidFill>
              <a:srgbClr val="F8F6F2"/>
            </a:solidFill>
            <a:ln w="9525" cap="sq">
              <a:solidFill>
                <a:srgbClr val="D7D2CA"/>
              </a:solidFill>
              <a:prstDash val="solid"/>
              <a:miter/>
            </a:ln>
          </p:spPr>
        </p:sp>
        <p:sp>
          <p:nvSpPr>
            <p:cNvPr name="TextBox 37" id="37"/>
            <p:cNvSpPr txBox="true"/>
            <p:nvPr/>
          </p:nvSpPr>
          <p:spPr>
            <a:xfrm>
              <a:off x="0" y="-38100"/>
              <a:ext cx="8369300" cy="27813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11344275" y="7462520"/>
            <a:ext cx="457200" cy="231140"/>
          </a:xfrm>
          <a:prstGeom prst="rect">
            <a:avLst/>
          </a:prstGeom>
        </p:spPr>
        <p:txBody>
          <a:bodyPr anchor="t" rtlCol="false" tIns="0" lIns="0" bIns="0" rIns="0">
            <a:spAutoFit/>
          </a:bodyPr>
          <a:lstStyle/>
          <a:p>
            <a:pPr algn="l">
              <a:lnSpc>
                <a:spcPts val="1960"/>
              </a:lnSpc>
            </a:pPr>
            <a:r>
              <a:rPr lang="en-US" sz="1400" b="true">
                <a:solidFill>
                  <a:srgbClr val="0054C5"/>
                </a:solidFill>
                <a:latin typeface="Cerebri Bold"/>
                <a:ea typeface="Cerebri Bold"/>
                <a:cs typeface="Cerebri Bold"/>
                <a:sym typeface="Cerebri Bold"/>
              </a:rPr>
              <a:t>06</a:t>
            </a:r>
          </a:p>
        </p:txBody>
      </p:sp>
      <p:sp>
        <p:nvSpPr>
          <p:cNvPr name="TextBox 39" id="39"/>
          <p:cNvSpPr txBox="true"/>
          <p:nvPr/>
        </p:nvSpPr>
        <p:spPr>
          <a:xfrm rot="0">
            <a:off x="12030075" y="7477442"/>
            <a:ext cx="5229225" cy="239395"/>
          </a:xfrm>
          <a:prstGeom prst="rect">
            <a:avLst/>
          </a:prstGeom>
        </p:spPr>
        <p:txBody>
          <a:bodyPr anchor="t" rtlCol="false" tIns="0" lIns="0" bIns="0" rIns="0">
            <a:spAutoFit/>
          </a:bodyPr>
          <a:lstStyle/>
          <a:p>
            <a:pPr algn="l">
              <a:lnSpc>
                <a:spcPts val="1955"/>
              </a:lnSpc>
            </a:pPr>
            <a:r>
              <a:rPr lang="en-US" sz="1700" b="true">
                <a:solidFill>
                  <a:srgbClr val="39352C"/>
                </a:solidFill>
                <a:latin typeface="Cerebri Bold"/>
                <a:ea typeface="Cerebri Bold"/>
                <a:cs typeface="Cerebri Bold"/>
                <a:sym typeface="Cerebri Bold"/>
              </a:rPr>
              <a:t>Settings Module</a:t>
            </a:r>
          </a:p>
        </p:txBody>
      </p:sp>
      <p:sp>
        <p:nvSpPr>
          <p:cNvPr name="TextBox 40" id="40"/>
          <p:cNvSpPr txBox="true"/>
          <p:nvPr/>
        </p:nvSpPr>
        <p:spPr>
          <a:xfrm rot="0">
            <a:off x="11347278" y="8249920"/>
            <a:ext cx="5819775" cy="403225"/>
          </a:xfrm>
          <a:prstGeom prst="rect">
            <a:avLst/>
          </a:prstGeom>
        </p:spPr>
        <p:txBody>
          <a:bodyPr anchor="t" rtlCol="false" tIns="0" lIns="0" bIns="0" rIns="0">
            <a:spAutoFit/>
          </a:bodyPr>
          <a:lstStyle/>
          <a:p>
            <a:pPr algn="l">
              <a:lnSpc>
                <a:spcPts val="1625"/>
              </a:lnSpc>
            </a:pPr>
            <a:r>
              <a:rPr lang="en-US" sz="1250">
                <a:solidFill>
                  <a:srgbClr val="39352C"/>
                </a:solidFill>
                <a:latin typeface="Cerebri"/>
                <a:ea typeface="Cerebri"/>
                <a:cs typeface="Cerebri"/>
                <a:sym typeface="Cerebri"/>
              </a:rPr>
              <a:t>Provides general preferences, notification settings, and dark/light theme selection; includes demonstration placeholders for API and webhook settings.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2EFEB"/>
        </a:solidFill>
      </p:bgPr>
    </p:bg>
    <p:spTree>
      <p:nvGrpSpPr>
        <p:cNvPr id="1" name=""/>
        <p:cNvGrpSpPr/>
        <p:nvPr/>
      </p:nvGrpSpPr>
      <p:grpSpPr>
        <a:xfrm>
          <a:off x="0" y="0"/>
          <a:ext cx="0" cy="0"/>
          <a:chOff x="0" y="0"/>
          <a:chExt cx="0" cy="0"/>
        </a:xfrm>
      </p:grpSpPr>
      <p:sp>
        <p:nvSpPr>
          <p:cNvPr name="AutoShape 2" id="2"/>
          <p:cNvSpPr/>
          <p:nvPr/>
        </p:nvSpPr>
        <p:spPr>
          <a:xfrm>
            <a:off x="4127053" y="618213"/>
            <a:ext cx="12209065" cy="0"/>
          </a:xfrm>
          <a:prstGeom prst="line">
            <a:avLst/>
          </a:prstGeom>
          <a:ln cap="flat" w="19050">
            <a:solidFill>
              <a:srgbClr val="39352C"/>
            </a:solidFill>
            <a:prstDash val="solid"/>
            <a:headEnd type="none" len="sm" w="sm"/>
            <a:tailEnd type="none" len="sm" w="sm"/>
          </a:ln>
        </p:spPr>
      </p:sp>
      <p:grpSp>
        <p:nvGrpSpPr>
          <p:cNvPr name="Group 3" id="3"/>
          <p:cNvGrpSpPr/>
          <p:nvPr/>
        </p:nvGrpSpPr>
        <p:grpSpPr>
          <a:xfrm rot="0">
            <a:off x="1028700" y="4902289"/>
            <a:ext cx="497458" cy="553733"/>
            <a:chOff x="0" y="0"/>
            <a:chExt cx="131018" cy="145839"/>
          </a:xfrm>
        </p:grpSpPr>
        <p:sp>
          <p:nvSpPr>
            <p:cNvPr name="Freeform 4" id="4"/>
            <p:cNvSpPr/>
            <p:nvPr/>
          </p:nvSpPr>
          <p:spPr>
            <a:xfrm flipH="false" flipV="false" rot="0">
              <a:off x="0" y="0"/>
              <a:ext cx="131018" cy="145839"/>
            </a:xfrm>
            <a:custGeom>
              <a:avLst/>
              <a:gdLst/>
              <a:ahLst/>
              <a:cxnLst/>
              <a:rect r="r" b="b" t="t" l="l"/>
              <a:pathLst>
                <a:path h="145839" w="131018">
                  <a:moveTo>
                    <a:pt x="65509" y="0"/>
                  </a:moveTo>
                  <a:lnTo>
                    <a:pt x="65509" y="0"/>
                  </a:lnTo>
                  <a:cubicBezTo>
                    <a:pt x="82883" y="0"/>
                    <a:pt x="99545" y="6902"/>
                    <a:pt x="111831" y="19187"/>
                  </a:cubicBezTo>
                  <a:cubicBezTo>
                    <a:pt x="124116" y="31472"/>
                    <a:pt x="131018" y="48135"/>
                    <a:pt x="131018" y="65509"/>
                  </a:cubicBezTo>
                  <a:lnTo>
                    <a:pt x="131018" y="80330"/>
                  </a:lnTo>
                  <a:cubicBezTo>
                    <a:pt x="131018" y="97704"/>
                    <a:pt x="124116" y="114367"/>
                    <a:pt x="111831" y="126652"/>
                  </a:cubicBezTo>
                  <a:cubicBezTo>
                    <a:pt x="99545" y="138937"/>
                    <a:pt x="82883" y="145839"/>
                    <a:pt x="65509" y="145839"/>
                  </a:cubicBezTo>
                  <a:lnTo>
                    <a:pt x="65509" y="145839"/>
                  </a:lnTo>
                  <a:cubicBezTo>
                    <a:pt x="29329" y="145839"/>
                    <a:pt x="0" y="116510"/>
                    <a:pt x="0" y="80330"/>
                  </a:cubicBezTo>
                  <a:lnTo>
                    <a:pt x="0" y="65509"/>
                  </a:lnTo>
                  <a:cubicBezTo>
                    <a:pt x="0" y="29329"/>
                    <a:pt x="29329" y="0"/>
                    <a:pt x="65509"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5" id="5"/>
            <p:cNvSpPr txBox="true"/>
            <p:nvPr/>
          </p:nvSpPr>
          <p:spPr>
            <a:xfrm>
              <a:off x="0" y="-38100"/>
              <a:ext cx="131018" cy="183939"/>
            </a:xfrm>
            <a:prstGeom prst="rect">
              <a:avLst/>
            </a:prstGeom>
          </p:spPr>
          <p:txBody>
            <a:bodyPr anchor="ctr" rtlCol="false" tIns="50800" lIns="50800" bIns="50800" rIns="50800"/>
            <a:lstStyle/>
            <a:p>
              <a:pPr algn="ctr" marL="0" indent="0" lvl="0">
                <a:lnSpc>
                  <a:spcPts val="3080"/>
                </a:lnSpc>
              </a:pPr>
            </a:p>
          </p:txBody>
        </p:sp>
      </p:grpSp>
      <p:grpSp>
        <p:nvGrpSpPr>
          <p:cNvPr name="Group 6" id="6"/>
          <p:cNvGrpSpPr/>
          <p:nvPr/>
        </p:nvGrpSpPr>
        <p:grpSpPr>
          <a:xfrm rot="0">
            <a:off x="1028700" y="5741771"/>
            <a:ext cx="497458" cy="553733"/>
            <a:chOff x="0" y="0"/>
            <a:chExt cx="131018" cy="145839"/>
          </a:xfrm>
        </p:grpSpPr>
        <p:sp>
          <p:nvSpPr>
            <p:cNvPr name="Freeform 7" id="7"/>
            <p:cNvSpPr/>
            <p:nvPr/>
          </p:nvSpPr>
          <p:spPr>
            <a:xfrm flipH="false" flipV="false" rot="0">
              <a:off x="0" y="0"/>
              <a:ext cx="131018" cy="145839"/>
            </a:xfrm>
            <a:custGeom>
              <a:avLst/>
              <a:gdLst/>
              <a:ahLst/>
              <a:cxnLst/>
              <a:rect r="r" b="b" t="t" l="l"/>
              <a:pathLst>
                <a:path h="145839" w="131018">
                  <a:moveTo>
                    <a:pt x="65509" y="0"/>
                  </a:moveTo>
                  <a:lnTo>
                    <a:pt x="65509" y="0"/>
                  </a:lnTo>
                  <a:cubicBezTo>
                    <a:pt x="82883" y="0"/>
                    <a:pt x="99545" y="6902"/>
                    <a:pt x="111831" y="19187"/>
                  </a:cubicBezTo>
                  <a:cubicBezTo>
                    <a:pt x="124116" y="31472"/>
                    <a:pt x="131018" y="48135"/>
                    <a:pt x="131018" y="65509"/>
                  </a:cubicBezTo>
                  <a:lnTo>
                    <a:pt x="131018" y="80330"/>
                  </a:lnTo>
                  <a:cubicBezTo>
                    <a:pt x="131018" y="97704"/>
                    <a:pt x="124116" y="114367"/>
                    <a:pt x="111831" y="126652"/>
                  </a:cubicBezTo>
                  <a:cubicBezTo>
                    <a:pt x="99545" y="138937"/>
                    <a:pt x="82883" y="145839"/>
                    <a:pt x="65509" y="145839"/>
                  </a:cubicBezTo>
                  <a:lnTo>
                    <a:pt x="65509" y="145839"/>
                  </a:lnTo>
                  <a:cubicBezTo>
                    <a:pt x="29329" y="145839"/>
                    <a:pt x="0" y="116510"/>
                    <a:pt x="0" y="80330"/>
                  </a:cubicBezTo>
                  <a:lnTo>
                    <a:pt x="0" y="65509"/>
                  </a:lnTo>
                  <a:cubicBezTo>
                    <a:pt x="0" y="29329"/>
                    <a:pt x="29329" y="0"/>
                    <a:pt x="65509"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8" id="8"/>
            <p:cNvSpPr txBox="true"/>
            <p:nvPr/>
          </p:nvSpPr>
          <p:spPr>
            <a:xfrm>
              <a:off x="0" y="-38100"/>
              <a:ext cx="131018" cy="183939"/>
            </a:xfrm>
            <a:prstGeom prst="rect">
              <a:avLst/>
            </a:prstGeom>
          </p:spPr>
          <p:txBody>
            <a:bodyPr anchor="ctr" rtlCol="false" tIns="50800" lIns="50800" bIns="50800" rIns="50800"/>
            <a:lstStyle/>
            <a:p>
              <a:pPr algn="ctr" marL="0" indent="0" lvl="0">
                <a:lnSpc>
                  <a:spcPts val="3080"/>
                </a:lnSpc>
              </a:pPr>
            </a:p>
          </p:txBody>
        </p:sp>
      </p:grpSp>
      <p:grpSp>
        <p:nvGrpSpPr>
          <p:cNvPr name="Group 9" id="9"/>
          <p:cNvGrpSpPr/>
          <p:nvPr/>
        </p:nvGrpSpPr>
        <p:grpSpPr>
          <a:xfrm rot="0">
            <a:off x="1028700" y="6581254"/>
            <a:ext cx="497458" cy="553733"/>
            <a:chOff x="0" y="0"/>
            <a:chExt cx="131018" cy="145839"/>
          </a:xfrm>
        </p:grpSpPr>
        <p:sp>
          <p:nvSpPr>
            <p:cNvPr name="Freeform 10" id="10"/>
            <p:cNvSpPr/>
            <p:nvPr/>
          </p:nvSpPr>
          <p:spPr>
            <a:xfrm flipH="false" flipV="false" rot="0">
              <a:off x="0" y="0"/>
              <a:ext cx="131018" cy="145839"/>
            </a:xfrm>
            <a:custGeom>
              <a:avLst/>
              <a:gdLst/>
              <a:ahLst/>
              <a:cxnLst/>
              <a:rect r="r" b="b" t="t" l="l"/>
              <a:pathLst>
                <a:path h="145839" w="131018">
                  <a:moveTo>
                    <a:pt x="65509" y="0"/>
                  </a:moveTo>
                  <a:lnTo>
                    <a:pt x="65509" y="0"/>
                  </a:lnTo>
                  <a:cubicBezTo>
                    <a:pt x="82883" y="0"/>
                    <a:pt x="99545" y="6902"/>
                    <a:pt x="111831" y="19187"/>
                  </a:cubicBezTo>
                  <a:cubicBezTo>
                    <a:pt x="124116" y="31472"/>
                    <a:pt x="131018" y="48135"/>
                    <a:pt x="131018" y="65509"/>
                  </a:cubicBezTo>
                  <a:lnTo>
                    <a:pt x="131018" y="80330"/>
                  </a:lnTo>
                  <a:cubicBezTo>
                    <a:pt x="131018" y="97704"/>
                    <a:pt x="124116" y="114367"/>
                    <a:pt x="111831" y="126652"/>
                  </a:cubicBezTo>
                  <a:cubicBezTo>
                    <a:pt x="99545" y="138937"/>
                    <a:pt x="82883" y="145839"/>
                    <a:pt x="65509" y="145839"/>
                  </a:cubicBezTo>
                  <a:lnTo>
                    <a:pt x="65509" y="145839"/>
                  </a:lnTo>
                  <a:cubicBezTo>
                    <a:pt x="29329" y="145839"/>
                    <a:pt x="0" y="116510"/>
                    <a:pt x="0" y="80330"/>
                  </a:cubicBezTo>
                  <a:lnTo>
                    <a:pt x="0" y="65509"/>
                  </a:lnTo>
                  <a:cubicBezTo>
                    <a:pt x="0" y="29329"/>
                    <a:pt x="29329" y="0"/>
                    <a:pt x="65509"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1" id="11"/>
            <p:cNvSpPr txBox="true"/>
            <p:nvPr/>
          </p:nvSpPr>
          <p:spPr>
            <a:xfrm>
              <a:off x="0" y="-38100"/>
              <a:ext cx="131018" cy="183939"/>
            </a:xfrm>
            <a:prstGeom prst="rect">
              <a:avLst/>
            </a:prstGeom>
          </p:spPr>
          <p:txBody>
            <a:bodyPr anchor="ctr" rtlCol="false" tIns="50800" lIns="50800" bIns="50800" rIns="50800"/>
            <a:lstStyle/>
            <a:p>
              <a:pPr algn="ctr" marL="0" indent="0" lvl="0">
                <a:lnSpc>
                  <a:spcPts val="3080"/>
                </a:lnSpc>
              </a:pPr>
            </a:p>
          </p:txBody>
        </p:sp>
      </p:grpSp>
      <p:grpSp>
        <p:nvGrpSpPr>
          <p:cNvPr name="Group 12" id="12"/>
          <p:cNvGrpSpPr/>
          <p:nvPr/>
        </p:nvGrpSpPr>
        <p:grpSpPr>
          <a:xfrm rot="0">
            <a:off x="1028700" y="7420737"/>
            <a:ext cx="497458" cy="553733"/>
            <a:chOff x="0" y="0"/>
            <a:chExt cx="131018" cy="145839"/>
          </a:xfrm>
        </p:grpSpPr>
        <p:sp>
          <p:nvSpPr>
            <p:cNvPr name="Freeform 13" id="13"/>
            <p:cNvSpPr/>
            <p:nvPr/>
          </p:nvSpPr>
          <p:spPr>
            <a:xfrm flipH="false" flipV="false" rot="0">
              <a:off x="0" y="0"/>
              <a:ext cx="131018" cy="145839"/>
            </a:xfrm>
            <a:custGeom>
              <a:avLst/>
              <a:gdLst/>
              <a:ahLst/>
              <a:cxnLst/>
              <a:rect r="r" b="b" t="t" l="l"/>
              <a:pathLst>
                <a:path h="145839" w="131018">
                  <a:moveTo>
                    <a:pt x="65509" y="0"/>
                  </a:moveTo>
                  <a:lnTo>
                    <a:pt x="65509" y="0"/>
                  </a:lnTo>
                  <a:cubicBezTo>
                    <a:pt x="82883" y="0"/>
                    <a:pt x="99545" y="6902"/>
                    <a:pt x="111831" y="19187"/>
                  </a:cubicBezTo>
                  <a:cubicBezTo>
                    <a:pt x="124116" y="31472"/>
                    <a:pt x="131018" y="48135"/>
                    <a:pt x="131018" y="65509"/>
                  </a:cubicBezTo>
                  <a:lnTo>
                    <a:pt x="131018" y="80330"/>
                  </a:lnTo>
                  <a:cubicBezTo>
                    <a:pt x="131018" y="97704"/>
                    <a:pt x="124116" y="114367"/>
                    <a:pt x="111831" y="126652"/>
                  </a:cubicBezTo>
                  <a:cubicBezTo>
                    <a:pt x="99545" y="138937"/>
                    <a:pt x="82883" y="145839"/>
                    <a:pt x="65509" y="145839"/>
                  </a:cubicBezTo>
                  <a:lnTo>
                    <a:pt x="65509" y="145839"/>
                  </a:lnTo>
                  <a:cubicBezTo>
                    <a:pt x="29329" y="145839"/>
                    <a:pt x="0" y="116510"/>
                    <a:pt x="0" y="80330"/>
                  </a:cubicBezTo>
                  <a:lnTo>
                    <a:pt x="0" y="65509"/>
                  </a:lnTo>
                  <a:cubicBezTo>
                    <a:pt x="0" y="29329"/>
                    <a:pt x="29329" y="0"/>
                    <a:pt x="65509" y="0"/>
                  </a:cubicBezTo>
                  <a:close/>
                </a:path>
              </a:pathLst>
            </a:custGeom>
            <a:gradFill rotWithShape="true">
              <a:gsLst>
                <a:gs pos="0">
                  <a:srgbClr val="0054C5">
                    <a:alpha val="100000"/>
                  </a:srgbClr>
                </a:gs>
                <a:gs pos="100000">
                  <a:srgbClr val="90E1E6">
                    <a:alpha val="100000"/>
                  </a:srgbClr>
                </a:gs>
              </a:gsLst>
              <a:path path="circle">
                <a:fillToRect l="0" r="100000" t="0" b="100000"/>
              </a:path>
              <a:tileRect r="0" l="-100000" b="0" t="-100000"/>
            </a:gradFill>
          </p:spPr>
        </p:sp>
        <p:sp>
          <p:nvSpPr>
            <p:cNvPr name="TextBox 14" id="14"/>
            <p:cNvSpPr txBox="true"/>
            <p:nvPr/>
          </p:nvSpPr>
          <p:spPr>
            <a:xfrm>
              <a:off x="0" y="-38100"/>
              <a:ext cx="131018" cy="183939"/>
            </a:xfrm>
            <a:prstGeom prst="rect">
              <a:avLst/>
            </a:prstGeom>
          </p:spPr>
          <p:txBody>
            <a:bodyPr anchor="ctr" rtlCol="false" tIns="50800" lIns="50800" bIns="50800" rIns="50800"/>
            <a:lstStyle/>
            <a:p>
              <a:pPr algn="ctr" marL="0" indent="0" lvl="0">
                <a:lnSpc>
                  <a:spcPts val="3080"/>
                </a:lnSpc>
              </a:pPr>
            </a:p>
          </p:txBody>
        </p:sp>
      </p:grpSp>
      <p:sp>
        <p:nvSpPr>
          <p:cNvPr name="TextBox 15" id="15"/>
          <p:cNvSpPr txBox="true"/>
          <p:nvPr/>
        </p:nvSpPr>
        <p:spPr>
          <a:xfrm rot="0">
            <a:off x="1028700" y="441923"/>
            <a:ext cx="3098353" cy="314481"/>
          </a:xfrm>
          <a:prstGeom prst="rect">
            <a:avLst/>
          </a:prstGeom>
        </p:spPr>
        <p:txBody>
          <a:bodyPr anchor="t" rtlCol="false" tIns="0" lIns="0" bIns="0" rIns="0">
            <a:spAutoFit/>
          </a:bodyPr>
          <a:lstStyle/>
          <a:p>
            <a:pPr algn="l" marL="0" indent="0" lvl="0">
              <a:lnSpc>
                <a:spcPts val="2616"/>
              </a:lnSpc>
              <a:spcBef>
                <a:spcPct val="0"/>
              </a:spcBef>
            </a:pPr>
            <a:r>
              <a:rPr lang="en-US" sz="1868" spc="56">
                <a:solidFill>
                  <a:srgbClr val="39352C"/>
                </a:solidFill>
                <a:latin typeface="Cerebri"/>
                <a:ea typeface="Cerebri"/>
                <a:cs typeface="Cerebri"/>
                <a:sym typeface="Cerebri"/>
              </a:rPr>
              <a:t>METRICFLOW</a:t>
            </a:r>
          </a:p>
        </p:txBody>
      </p:sp>
      <p:sp>
        <p:nvSpPr>
          <p:cNvPr name="TextBox 16" id="16"/>
          <p:cNvSpPr txBox="true"/>
          <p:nvPr/>
        </p:nvSpPr>
        <p:spPr>
          <a:xfrm rot="0">
            <a:off x="5341034" y="1842796"/>
            <a:ext cx="7605932" cy="962760"/>
          </a:xfrm>
          <a:prstGeom prst="rect">
            <a:avLst/>
          </a:prstGeom>
        </p:spPr>
        <p:txBody>
          <a:bodyPr anchor="t" rtlCol="false" tIns="0" lIns="0" bIns="0" rIns="0">
            <a:spAutoFit/>
          </a:bodyPr>
          <a:lstStyle/>
          <a:p>
            <a:pPr algn="l" marL="0" indent="0" lvl="0">
              <a:lnSpc>
                <a:spcPts val="7834"/>
              </a:lnSpc>
              <a:spcBef>
                <a:spcPct val="0"/>
              </a:spcBef>
            </a:pPr>
            <a:r>
              <a:rPr lang="en-US" b="true" sz="5596">
                <a:solidFill>
                  <a:srgbClr val="0054C5"/>
                </a:solidFill>
                <a:latin typeface="Cerebri Bold"/>
                <a:ea typeface="Cerebri Bold"/>
                <a:cs typeface="Cerebri Bold"/>
                <a:sym typeface="Cerebri Bold"/>
              </a:rPr>
              <a:t>Technology Stack</a:t>
            </a:r>
          </a:p>
        </p:txBody>
      </p:sp>
      <p:sp>
        <p:nvSpPr>
          <p:cNvPr name="TextBox 17" id="17"/>
          <p:cNvSpPr txBox="true"/>
          <p:nvPr/>
        </p:nvSpPr>
        <p:spPr>
          <a:xfrm rot="0">
            <a:off x="1028700" y="4120006"/>
            <a:ext cx="4566455" cy="373662"/>
          </a:xfrm>
          <a:prstGeom prst="rect">
            <a:avLst/>
          </a:prstGeom>
        </p:spPr>
        <p:txBody>
          <a:bodyPr anchor="t" rtlCol="false" tIns="0" lIns="0" bIns="0" rIns="0">
            <a:spAutoFit/>
          </a:bodyPr>
          <a:lstStyle/>
          <a:p>
            <a:pPr algn="l" marL="0" indent="0" lvl="0">
              <a:lnSpc>
                <a:spcPts val="3029"/>
              </a:lnSpc>
              <a:spcBef>
                <a:spcPct val="0"/>
              </a:spcBef>
            </a:pPr>
            <a:r>
              <a:rPr lang="en-US" b="true" sz="2163">
                <a:solidFill>
                  <a:srgbClr val="39352C"/>
                </a:solidFill>
                <a:latin typeface="Cerebri Bold"/>
                <a:ea typeface="Cerebri Bold"/>
                <a:cs typeface="Cerebri Bold"/>
                <a:sym typeface="Cerebri Bold"/>
              </a:rPr>
              <a:t>Core Technologies:</a:t>
            </a:r>
          </a:p>
        </p:txBody>
      </p:sp>
      <p:sp>
        <p:nvSpPr>
          <p:cNvPr name="TextBox 18" id="18"/>
          <p:cNvSpPr txBox="true"/>
          <p:nvPr/>
        </p:nvSpPr>
        <p:spPr>
          <a:xfrm rot="0">
            <a:off x="1716658" y="4964226"/>
            <a:ext cx="3115008" cy="365892"/>
          </a:xfrm>
          <a:prstGeom prst="rect">
            <a:avLst/>
          </a:prstGeom>
        </p:spPr>
        <p:txBody>
          <a:bodyPr anchor="t" rtlCol="false" tIns="0" lIns="0" bIns="0" rIns="0">
            <a:spAutoFit/>
          </a:bodyPr>
          <a:lstStyle/>
          <a:p>
            <a:pPr algn="l" marL="0" indent="0" lvl="0">
              <a:lnSpc>
                <a:spcPts val="2932"/>
              </a:lnSpc>
              <a:spcBef>
                <a:spcPct val="0"/>
              </a:spcBef>
            </a:pPr>
            <a:r>
              <a:rPr lang="en-US" b="true" sz="2094">
                <a:solidFill>
                  <a:srgbClr val="39352C"/>
                </a:solidFill>
                <a:latin typeface="Cerebri Bold"/>
                <a:ea typeface="Cerebri Bold"/>
                <a:cs typeface="Cerebri Bold"/>
                <a:sym typeface="Cerebri Bold"/>
              </a:rPr>
              <a:t>React 19 &amp; TypeScript</a:t>
            </a:r>
          </a:p>
        </p:txBody>
      </p:sp>
      <p:sp>
        <p:nvSpPr>
          <p:cNvPr name="TextBox 19" id="19"/>
          <p:cNvSpPr txBox="true"/>
          <p:nvPr/>
        </p:nvSpPr>
        <p:spPr>
          <a:xfrm rot="0">
            <a:off x="1716658" y="5803709"/>
            <a:ext cx="3115008" cy="365892"/>
          </a:xfrm>
          <a:prstGeom prst="rect">
            <a:avLst/>
          </a:prstGeom>
        </p:spPr>
        <p:txBody>
          <a:bodyPr anchor="t" rtlCol="false" tIns="0" lIns="0" bIns="0" rIns="0">
            <a:spAutoFit/>
          </a:bodyPr>
          <a:lstStyle/>
          <a:p>
            <a:pPr algn="l" marL="0" indent="0" lvl="0">
              <a:lnSpc>
                <a:spcPts val="2932"/>
              </a:lnSpc>
              <a:spcBef>
                <a:spcPct val="0"/>
              </a:spcBef>
            </a:pPr>
            <a:r>
              <a:rPr lang="en-US" b="true" sz="2094">
                <a:solidFill>
                  <a:srgbClr val="39352C"/>
                </a:solidFill>
                <a:latin typeface="Cerebri Bold"/>
                <a:ea typeface="Cerebri Bold"/>
                <a:cs typeface="Cerebri Bold"/>
                <a:sym typeface="Cerebri Bold"/>
              </a:rPr>
              <a:t>Vite &amp; Tailwind CSS</a:t>
            </a:r>
          </a:p>
        </p:txBody>
      </p:sp>
      <p:sp>
        <p:nvSpPr>
          <p:cNvPr name="TextBox 20" id="20"/>
          <p:cNvSpPr txBox="true"/>
          <p:nvPr/>
        </p:nvSpPr>
        <p:spPr>
          <a:xfrm rot="0">
            <a:off x="5159133" y="4973751"/>
            <a:ext cx="6197170" cy="314481"/>
          </a:xfrm>
          <a:prstGeom prst="rect">
            <a:avLst/>
          </a:prstGeom>
        </p:spPr>
        <p:txBody>
          <a:bodyPr anchor="t" rtlCol="false" tIns="0" lIns="0" bIns="0" rIns="0">
            <a:spAutoFit/>
          </a:bodyPr>
          <a:lstStyle/>
          <a:p>
            <a:pPr algn="l" marL="0" indent="0" lvl="0">
              <a:lnSpc>
                <a:spcPts val="2616"/>
              </a:lnSpc>
              <a:spcBef>
                <a:spcPct val="0"/>
              </a:spcBef>
            </a:pPr>
            <a:r>
              <a:rPr lang="en-US" sz="1868">
                <a:solidFill>
                  <a:srgbClr val="39352C"/>
                </a:solidFill>
                <a:latin typeface="Cerebri"/>
                <a:ea typeface="Cerebri"/>
                <a:cs typeface="Cerebri"/>
                <a:sym typeface="Cerebri"/>
              </a:rPr>
              <a:t>Modern frontend framework with type-safe development.</a:t>
            </a:r>
          </a:p>
        </p:txBody>
      </p:sp>
      <p:sp>
        <p:nvSpPr>
          <p:cNvPr name="TextBox 21" id="21"/>
          <p:cNvSpPr txBox="true"/>
          <p:nvPr/>
        </p:nvSpPr>
        <p:spPr>
          <a:xfrm rot="0">
            <a:off x="5159133" y="5813234"/>
            <a:ext cx="6197170" cy="314481"/>
          </a:xfrm>
          <a:prstGeom prst="rect">
            <a:avLst/>
          </a:prstGeom>
        </p:spPr>
        <p:txBody>
          <a:bodyPr anchor="t" rtlCol="false" tIns="0" lIns="0" bIns="0" rIns="0">
            <a:spAutoFit/>
          </a:bodyPr>
          <a:lstStyle/>
          <a:p>
            <a:pPr algn="l" marL="0" indent="0" lvl="0">
              <a:lnSpc>
                <a:spcPts val="2616"/>
              </a:lnSpc>
              <a:spcBef>
                <a:spcPct val="0"/>
              </a:spcBef>
            </a:pPr>
            <a:r>
              <a:rPr lang="en-US" sz="1868">
                <a:solidFill>
                  <a:srgbClr val="39352C"/>
                </a:solidFill>
                <a:latin typeface="Cerebri"/>
                <a:ea typeface="Cerebri"/>
                <a:cs typeface="Cerebri"/>
                <a:sym typeface="Cerebri"/>
              </a:rPr>
              <a:t>Lightning-fast build tool with utility-first styling.</a:t>
            </a:r>
          </a:p>
        </p:txBody>
      </p:sp>
      <p:sp>
        <p:nvSpPr>
          <p:cNvPr name="TextBox 22" id="22"/>
          <p:cNvSpPr txBox="true"/>
          <p:nvPr/>
        </p:nvSpPr>
        <p:spPr>
          <a:xfrm rot="0">
            <a:off x="1716658" y="6643192"/>
            <a:ext cx="3115008" cy="365892"/>
          </a:xfrm>
          <a:prstGeom prst="rect">
            <a:avLst/>
          </a:prstGeom>
        </p:spPr>
        <p:txBody>
          <a:bodyPr anchor="t" rtlCol="false" tIns="0" lIns="0" bIns="0" rIns="0">
            <a:spAutoFit/>
          </a:bodyPr>
          <a:lstStyle/>
          <a:p>
            <a:pPr algn="l" marL="0" indent="0" lvl="0">
              <a:lnSpc>
                <a:spcPts val="2932"/>
              </a:lnSpc>
              <a:spcBef>
                <a:spcPct val="0"/>
              </a:spcBef>
            </a:pPr>
            <a:r>
              <a:rPr lang="en-US" b="true" sz="2094">
                <a:solidFill>
                  <a:srgbClr val="39352C"/>
                </a:solidFill>
                <a:latin typeface="Cerebri Bold"/>
                <a:ea typeface="Cerebri Bold"/>
                <a:cs typeface="Cerebri Bold"/>
                <a:sym typeface="Cerebri Bold"/>
              </a:rPr>
              <a:t>Recharts &amp; Lucide React</a:t>
            </a:r>
          </a:p>
        </p:txBody>
      </p:sp>
      <p:sp>
        <p:nvSpPr>
          <p:cNvPr name="TextBox 23" id="23"/>
          <p:cNvSpPr txBox="true"/>
          <p:nvPr/>
        </p:nvSpPr>
        <p:spPr>
          <a:xfrm rot="0">
            <a:off x="5159133" y="6652717"/>
            <a:ext cx="6197170" cy="314481"/>
          </a:xfrm>
          <a:prstGeom prst="rect">
            <a:avLst/>
          </a:prstGeom>
        </p:spPr>
        <p:txBody>
          <a:bodyPr anchor="t" rtlCol="false" tIns="0" lIns="0" bIns="0" rIns="0">
            <a:spAutoFit/>
          </a:bodyPr>
          <a:lstStyle/>
          <a:p>
            <a:pPr algn="l" marL="0" indent="0" lvl="0">
              <a:lnSpc>
                <a:spcPts val="2616"/>
              </a:lnSpc>
              <a:spcBef>
                <a:spcPct val="0"/>
              </a:spcBef>
            </a:pPr>
            <a:r>
              <a:rPr lang="en-US" sz="1868">
                <a:solidFill>
                  <a:srgbClr val="39352C"/>
                </a:solidFill>
                <a:latin typeface="Cerebri"/>
                <a:ea typeface="Cerebri"/>
                <a:cs typeface="Cerebri"/>
                <a:sym typeface="Cerebri"/>
              </a:rPr>
              <a:t>Interactive data visualization with clean icon library.</a:t>
            </a:r>
          </a:p>
        </p:txBody>
      </p:sp>
      <p:sp>
        <p:nvSpPr>
          <p:cNvPr name="TextBox 24" id="24"/>
          <p:cNvSpPr txBox="true"/>
          <p:nvPr/>
        </p:nvSpPr>
        <p:spPr>
          <a:xfrm rot="0">
            <a:off x="1716658" y="7482675"/>
            <a:ext cx="3115008" cy="365892"/>
          </a:xfrm>
          <a:prstGeom prst="rect">
            <a:avLst/>
          </a:prstGeom>
        </p:spPr>
        <p:txBody>
          <a:bodyPr anchor="t" rtlCol="false" tIns="0" lIns="0" bIns="0" rIns="0">
            <a:spAutoFit/>
          </a:bodyPr>
          <a:lstStyle/>
          <a:p>
            <a:pPr algn="l" marL="0" indent="0" lvl="0">
              <a:lnSpc>
                <a:spcPts val="2932"/>
              </a:lnSpc>
              <a:spcBef>
                <a:spcPct val="0"/>
              </a:spcBef>
            </a:pPr>
            <a:r>
              <a:rPr lang="en-US" b="true" sz="2094">
                <a:solidFill>
                  <a:srgbClr val="39352C"/>
                </a:solidFill>
                <a:latin typeface="Cerebri Bold"/>
                <a:ea typeface="Cerebri Bold"/>
                <a:cs typeface="Cerebri Bold"/>
                <a:sym typeface="Cerebri Bold"/>
              </a:rPr>
              <a:t>Vitest &amp; Git/GitHub</a:t>
            </a:r>
          </a:p>
        </p:txBody>
      </p:sp>
      <p:sp>
        <p:nvSpPr>
          <p:cNvPr name="TextBox 25" id="25"/>
          <p:cNvSpPr txBox="true"/>
          <p:nvPr/>
        </p:nvSpPr>
        <p:spPr>
          <a:xfrm rot="0">
            <a:off x="5159133" y="7492200"/>
            <a:ext cx="6197170" cy="314481"/>
          </a:xfrm>
          <a:prstGeom prst="rect">
            <a:avLst/>
          </a:prstGeom>
        </p:spPr>
        <p:txBody>
          <a:bodyPr anchor="t" rtlCol="false" tIns="0" lIns="0" bIns="0" rIns="0">
            <a:spAutoFit/>
          </a:bodyPr>
          <a:lstStyle/>
          <a:p>
            <a:pPr algn="l" marL="0" indent="0" lvl="0">
              <a:lnSpc>
                <a:spcPts val="2616"/>
              </a:lnSpc>
              <a:spcBef>
                <a:spcPct val="0"/>
              </a:spcBef>
            </a:pPr>
            <a:r>
              <a:rPr lang="en-US" sz="1868">
                <a:solidFill>
                  <a:srgbClr val="39352C"/>
                </a:solidFill>
                <a:latin typeface="Cerebri"/>
                <a:ea typeface="Cerebri"/>
                <a:cs typeface="Cerebri"/>
                <a:sym typeface="Cerebri"/>
              </a:rPr>
              <a:t>Automated testing with version control and collaboration.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2EFEB"/>
        </a:solidFill>
      </p:bgPr>
    </p:bg>
    <p:spTree>
      <p:nvGrpSpPr>
        <p:cNvPr id="1" name=""/>
        <p:cNvGrpSpPr/>
        <p:nvPr/>
      </p:nvGrpSpPr>
      <p:grpSpPr>
        <a:xfrm>
          <a:off x="0" y="0"/>
          <a:ext cx="0" cy="0"/>
          <a:chOff x="0" y="0"/>
          <a:chExt cx="0" cy="0"/>
        </a:xfrm>
      </p:grpSpPr>
      <p:sp>
        <p:nvSpPr>
          <p:cNvPr name="AutoShape 2" id="2"/>
          <p:cNvSpPr/>
          <p:nvPr/>
        </p:nvSpPr>
        <p:spPr>
          <a:xfrm>
            <a:off x="4127053" y="581666"/>
            <a:ext cx="12072713" cy="0"/>
          </a:xfrm>
          <a:prstGeom prst="line">
            <a:avLst/>
          </a:prstGeom>
          <a:ln cap="flat" w="19050">
            <a:solidFill>
              <a:srgbClr val="39352C"/>
            </a:solidFill>
            <a:prstDash val="solid"/>
            <a:headEnd type="none" len="sm" w="sm"/>
            <a:tailEnd type="none" len="sm" w="sm"/>
          </a:ln>
        </p:spPr>
      </p:sp>
      <p:sp>
        <p:nvSpPr>
          <p:cNvPr name="TextBox 3" id="3"/>
          <p:cNvSpPr txBox="true"/>
          <p:nvPr/>
        </p:nvSpPr>
        <p:spPr>
          <a:xfrm rot="0">
            <a:off x="1028700" y="451448"/>
            <a:ext cx="3098353" cy="231862"/>
          </a:xfrm>
          <a:prstGeom prst="rect">
            <a:avLst/>
          </a:prstGeom>
        </p:spPr>
        <p:txBody>
          <a:bodyPr anchor="t" rtlCol="false" tIns="0" lIns="0" bIns="0" rIns="0">
            <a:spAutoFit/>
          </a:bodyPr>
          <a:lstStyle/>
          <a:p>
            <a:pPr algn="l" marL="0" indent="0" lvl="0">
              <a:lnSpc>
                <a:spcPts val="1920"/>
              </a:lnSpc>
              <a:spcBef>
                <a:spcPct val="0"/>
              </a:spcBef>
            </a:pPr>
            <a:r>
              <a:rPr lang="en-US" sz="1371" spc="41">
                <a:solidFill>
                  <a:srgbClr val="39352C"/>
                </a:solidFill>
                <a:latin typeface="Cerebri"/>
                <a:ea typeface="Cerebri"/>
                <a:cs typeface="Cerebri"/>
                <a:sym typeface="Cerebri"/>
              </a:rPr>
              <a:t>METRICFLOW</a:t>
            </a:r>
          </a:p>
        </p:txBody>
      </p:sp>
      <p:sp>
        <p:nvSpPr>
          <p:cNvPr name="TextBox 4" id="4"/>
          <p:cNvSpPr txBox="true"/>
          <p:nvPr/>
        </p:nvSpPr>
        <p:spPr>
          <a:xfrm rot="0">
            <a:off x="1144399" y="1980527"/>
            <a:ext cx="7605932" cy="962760"/>
          </a:xfrm>
          <a:prstGeom prst="rect">
            <a:avLst/>
          </a:prstGeom>
        </p:spPr>
        <p:txBody>
          <a:bodyPr anchor="t" rtlCol="false" tIns="0" lIns="0" bIns="0" rIns="0">
            <a:spAutoFit/>
          </a:bodyPr>
          <a:lstStyle/>
          <a:p>
            <a:pPr algn="l" marL="0" indent="0" lvl="0">
              <a:lnSpc>
                <a:spcPts val="7834"/>
              </a:lnSpc>
              <a:spcBef>
                <a:spcPct val="0"/>
              </a:spcBef>
            </a:pPr>
            <a:r>
              <a:rPr lang="en-US" b="true" sz="5596">
                <a:solidFill>
                  <a:srgbClr val="0054C5"/>
                </a:solidFill>
                <a:latin typeface="Cerebri Bold"/>
                <a:ea typeface="Cerebri Bold"/>
                <a:cs typeface="Cerebri Bold"/>
                <a:sym typeface="Cerebri Bold"/>
              </a:rPr>
              <a:t>Results</a:t>
            </a:r>
          </a:p>
        </p:txBody>
      </p:sp>
      <p:sp>
        <p:nvSpPr>
          <p:cNvPr name="TextBox 5" id="5"/>
          <p:cNvSpPr txBox="true"/>
          <p:nvPr/>
        </p:nvSpPr>
        <p:spPr>
          <a:xfrm rot="0">
            <a:off x="1028700" y="3406728"/>
            <a:ext cx="11867852" cy="2257581"/>
          </a:xfrm>
          <a:prstGeom prst="rect">
            <a:avLst/>
          </a:prstGeom>
        </p:spPr>
        <p:txBody>
          <a:bodyPr anchor="t" rtlCol="false" tIns="0" lIns="0" bIns="0" rIns="0">
            <a:spAutoFit/>
          </a:bodyPr>
          <a:lstStyle/>
          <a:p>
            <a:pPr algn="l" marL="403483" indent="-201742" lvl="1">
              <a:lnSpc>
                <a:spcPts val="2616"/>
              </a:lnSpc>
              <a:buFont typeface="Arial"/>
              <a:buChar char="•"/>
            </a:pPr>
            <a:r>
              <a:rPr lang="en-US" sz="1868">
                <a:solidFill>
                  <a:srgbClr val="000000"/>
                </a:solidFill>
                <a:latin typeface="Cerebri"/>
                <a:ea typeface="Cerebri"/>
                <a:cs typeface="Cerebri"/>
                <a:sym typeface="Cerebri"/>
              </a:rPr>
              <a:t>Successfully developed a responsive business analytics dashboard.</a:t>
            </a:r>
          </a:p>
          <a:p>
            <a:pPr algn="l" marL="403483" indent="-201742" lvl="1">
              <a:lnSpc>
                <a:spcPts val="2616"/>
              </a:lnSpc>
              <a:spcBef>
                <a:spcPct val="0"/>
              </a:spcBef>
              <a:buFont typeface="Arial"/>
              <a:buChar char="•"/>
            </a:pPr>
            <a:r>
              <a:rPr lang="en-US" sz="1868">
                <a:solidFill>
                  <a:srgbClr val="000000"/>
                </a:solidFill>
                <a:latin typeface="Cerebri"/>
                <a:ea typeface="Cerebri"/>
                <a:cs typeface="Cerebri"/>
                <a:sym typeface="Cerebri"/>
              </a:rPr>
              <a:t>Displayed key business metrics and interactive data visualizati</a:t>
            </a:r>
            <a:r>
              <a:rPr lang="en-US" sz="1868">
                <a:solidFill>
                  <a:srgbClr val="000000"/>
                </a:solidFill>
                <a:latin typeface="Cerebri"/>
                <a:ea typeface="Cerebri"/>
                <a:cs typeface="Cerebri"/>
                <a:sym typeface="Cerebri"/>
              </a:rPr>
              <a:t>ons.</a:t>
            </a:r>
          </a:p>
          <a:p>
            <a:pPr algn="l" marL="403483" indent="-201742" lvl="1">
              <a:lnSpc>
                <a:spcPts val="2616"/>
              </a:lnSpc>
              <a:spcBef>
                <a:spcPct val="0"/>
              </a:spcBef>
              <a:buFont typeface="Arial"/>
              <a:buChar char="•"/>
            </a:pPr>
            <a:r>
              <a:rPr lang="en-US" sz="1868">
                <a:solidFill>
                  <a:srgbClr val="000000"/>
                </a:solidFill>
                <a:latin typeface="Cerebri"/>
                <a:ea typeface="Cerebri"/>
                <a:cs typeface="Cerebri"/>
                <a:sym typeface="Cerebri"/>
              </a:rPr>
              <a:t>Implemented multiple dashboard modules for analytics, customers, transactions, products, and settings.</a:t>
            </a:r>
          </a:p>
          <a:p>
            <a:pPr algn="l" marL="403483" indent="-201742" lvl="1">
              <a:lnSpc>
                <a:spcPts val="2616"/>
              </a:lnSpc>
              <a:spcBef>
                <a:spcPct val="0"/>
              </a:spcBef>
              <a:buFont typeface="Arial"/>
              <a:buChar char="•"/>
            </a:pPr>
            <a:r>
              <a:rPr lang="en-US" sz="1868">
                <a:solidFill>
                  <a:srgbClr val="000000"/>
                </a:solidFill>
                <a:latin typeface="Cerebri"/>
                <a:ea typeface="Cerebri"/>
                <a:cs typeface="Cerebri"/>
                <a:sym typeface="Cerebri"/>
              </a:rPr>
              <a:t>Enabled transaction search, filtering, sorting, pagination, and CSV export.</a:t>
            </a:r>
          </a:p>
          <a:p>
            <a:pPr algn="l" marL="403483" indent="-201742" lvl="1">
              <a:lnSpc>
                <a:spcPts val="2616"/>
              </a:lnSpc>
              <a:spcBef>
                <a:spcPct val="0"/>
              </a:spcBef>
              <a:buFont typeface="Arial"/>
              <a:buChar char="•"/>
            </a:pPr>
            <a:r>
              <a:rPr lang="en-US" sz="1868">
                <a:solidFill>
                  <a:srgbClr val="000000"/>
                </a:solidFill>
                <a:latin typeface="Cerebri"/>
                <a:ea typeface="Cerebri"/>
                <a:cs typeface="Cerebri"/>
                <a:sym typeface="Cerebri"/>
              </a:rPr>
              <a:t>Added dark/light theme support and a demonstration login interface.</a:t>
            </a:r>
          </a:p>
          <a:p>
            <a:pPr algn="l" marL="403483" indent="-201742" lvl="1">
              <a:lnSpc>
                <a:spcPts val="2616"/>
              </a:lnSpc>
              <a:spcBef>
                <a:spcPct val="0"/>
              </a:spcBef>
              <a:buFont typeface="Arial"/>
              <a:buChar char="•"/>
            </a:pPr>
            <a:r>
              <a:rPr lang="en-US" sz="1868">
                <a:solidFill>
                  <a:srgbClr val="000000"/>
                </a:solidFill>
                <a:latin typeface="Cerebri"/>
                <a:ea typeface="Cerebri"/>
                <a:cs typeface="Cerebri"/>
                <a:sym typeface="Cerebri"/>
              </a:rPr>
              <a:t>Included automated tests for data calculations, filtering, pagination, CSV handling, and theme preferences.</a:t>
            </a:r>
          </a:p>
          <a:p>
            <a:pPr algn="l">
              <a:lnSpc>
                <a:spcPts val="2616"/>
              </a:lnSpc>
              <a:spcBef>
                <a:spcPct val="0"/>
              </a:spcBef>
            </a:pPr>
          </a:p>
        </p:txBody>
      </p:sp>
      <p:sp>
        <p:nvSpPr>
          <p:cNvPr name="TextBox 6" id="6"/>
          <p:cNvSpPr txBox="true"/>
          <p:nvPr/>
        </p:nvSpPr>
        <p:spPr>
          <a:xfrm rot="0">
            <a:off x="1028700" y="5885304"/>
            <a:ext cx="4602958" cy="953135"/>
          </a:xfrm>
          <a:prstGeom prst="rect">
            <a:avLst/>
          </a:prstGeom>
        </p:spPr>
        <p:txBody>
          <a:bodyPr anchor="t" rtlCol="false" tIns="0" lIns="0" bIns="0" rIns="0">
            <a:spAutoFit/>
          </a:bodyPr>
          <a:lstStyle/>
          <a:p>
            <a:pPr algn="l">
              <a:lnSpc>
                <a:spcPts val="7840"/>
              </a:lnSpc>
              <a:spcBef>
                <a:spcPct val="0"/>
              </a:spcBef>
            </a:pPr>
            <a:r>
              <a:rPr lang="en-US" b="true" sz="5600">
                <a:solidFill>
                  <a:srgbClr val="0054C5"/>
                </a:solidFill>
                <a:latin typeface="Cerebri Bold"/>
                <a:ea typeface="Cerebri Bold"/>
                <a:cs typeface="Cerebri Bold"/>
                <a:sym typeface="Cerebri Bold"/>
              </a:rPr>
              <a:t>Conclusion</a:t>
            </a:r>
          </a:p>
        </p:txBody>
      </p:sp>
      <p:sp>
        <p:nvSpPr>
          <p:cNvPr name="TextBox 7" id="7"/>
          <p:cNvSpPr txBox="true"/>
          <p:nvPr/>
        </p:nvSpPr>
        <p:spPr>
          <a:xfrm rot="0">
            <a:off x="1028700" y="7305164"/>
            <a:ext cx="15048343" cy="638331"/>
          </a:xfrm>
          <a:prstGeom prst="rect">
            <a:avLst/>
          </a:prstGeom>
        </p:spPr>
        <p:txBody>
          <a:bodyPr anchor="t" rtlCol="false" tIns="0" lIns="0" bIns="0" rIns="0">
            <a:spAutoFit/>
          </a:bodyPr>
          <a:lstStyle/>
          <a:p>
            <a:pPr algn="l">
              <a:lnSpc>
                <a:spcPts val="2616"/>
              </a:lnSpc>
              <a:spcBef>
                <a:spcPct val="0"/>
              </a:spcBef>
            </a:pPr>
            <a:r>
              <a:rPr lang="en-US" sz="1868">
                <a:solidFill>
                  <a:srgbClr val="000000"/>
                </a:solidFill>
                <a:latin typeface="Cerebri"/>
                <a:ea typeface="Cerebri"/>
                <a:cs typeface="Cerebri"/>
                <a:sym typeface="Cerebri"/>
              </a:rPr>
              <a:t>MetricFlow demonstrates how modern frontend technologies can be used t</a:t>
            </a:r>
            <a:r>
              <a:rPr lang="en-US" sz="1868">
                <a:solidFill>
                  <a:srgbClr val="000000"/>
                </a:solidFill>
                <a:latin typeface="Cerebri"/>
                <a:ea typeface="Cerebri"/>
                <a:cs typeface="Cerebri"/>
                <a:sym typeface="Cerebri"/>
              </a:rPr>
              <a:t>o build an organized and interactive business analytics dashboard. It provides a foundation for presenting business data clearly and efficiently.</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2EFEB"/>
        </a:solidFill>
      </p:bgPr>
    </p:bg>
    <p:spTree>
      <p:nvGrpSpPr>
        <p:cNvPr id="1" name=""/>
        <p:cNvGrpSpPr/>
        <p:nvPr/>
      </p:nvGrpSpPr>
      <p:grpSpPr>
        <a:xfrm>
          <a:off x="0" y="0"/>
          <a:ext cx="0" cy="0"/>
          <a:chOff x="0" y="0"/>
          <a:chExt cx="0" cy="0"/>
        </a:xfrm>
      </p:grpSpPr>
      <p:sp>
        <p:nvSpPr>
          <p:cNvPr name="AutoShape 2" id="2"/>
          <p:cNvSpPr/>
          <p:nvPr/>
        </p:nvSpPr>
        <p:spPr>
          <a:xfrm>
            <a:off x="4117528" y="622597"/>
            <a:ext cx="12279490" cy="0"/>
          </a:xfrm>
          <a:prstGeom prst="line">
            <a:avLst/>
          </a:prstGeom>
          <a:ln cap="flat" w="19050">
            <a:solidFill>
              <a:srgbClr val="39352C"/>
            </a:solidFill>
            <a:prstDash val="solid"/>
            <a:headEnd type="none" len="sm" w="sm"/>
            <a:tailEnd type="none" len="sm" w="sm"/>
          </a:ln>
        </p:spPr>
      </p:sp>
      <p:grpSp>
        <p:nvGrpSpPr>
          <p:cNvPr name="Group 3" id="3"/>
          <p:cNvGrpSpPr/>
          <p:nvPr/>
        </p:nvGrpSpPr>
        <p:grpSpPr>
          <a:xfrm rot="0">
            <a:off x="-5774087" y="4985732"/>
            <a:ext cx="8351964" cy="4663440"/>
            <a:chOff x="0" y="0"/>
            <a:chExt cx="727840" cy="406400"/>
          </a:xfrm>
        </p:grpSpPr>
        <p:sp>
          <p:nvSpPr>
            <p:cNvPr name="Freeform 4" id="4"/>
            <p:cNvSpPr/>
            <p:nvPr/>
          </p:nvSpPr>
          <p:spPr>
            <a:xfrm flipH="false" flipV="false" rot="0">
              <a:off x="0" y="0"/>
              <a:ext cx="727840" cy="406400"/>
            </a:xfrm>
            <a:custGeom>
              <a:avLst/>
              <a:gdLst/>
              <a:ahLst/>
              <a:cxnLst/>
              <a:rect r="r" b="b" t="t" l="l"/>
              <a:pathLst>
                <a:path h="406400" w="727840">
                  <a:moveTo>
                    <a:pt x="0" y="0"/>
                  </a:moveTo>
                  <a:lnTo>
                    <a:pt x="524640" y="0"/>
                  </a:lnTo>
                  <a:lnTo>
                    <a:pt x="727840" y="203200"/>
                  </a:lnTo>
                  <a:lnTo>
                    <a:pt x="524640" y="406400"/>
                  </a:lnTo>
                  <a:lnTo>
                    <a:pt x="0" y="406400"/>
                  </a:lnTo>
                  <a:lnTo>
                    <a:pt x="203200" y="203200"/>
                  </a:lnTo>
                  <a:lnTo>
                    <a:pt x="0" y="0"/>
                  </a:lnTo>
                  <a:close/>
                </a:path>
              </a:pathLst>
            </a:custGeom>
            <a:solidFill>
              <a:srgbClr val="F2EFEB"/>
            </a:solidFill>
          </p:spPr>
        </p:sp>
      </p:grpSp>
      <p:sp>
        <p:nvSpPr>
          <p:cNvPr name="TextBox 5" id="5"/>
          <p:cNvSpPr txBox="true"/>
          <p:nvPr/>
        </p:nvSpPr>
        <p:spPr>
          <a:xfrm rot="0">
            <a:off x="1019175" y="441923"/>
            <a:ext cx="3098353" cy="323249"/>
          </a:xfrm>
          <a:prstGeom prst="rect">
            <a:avLst/>
          </a:prstGeom>
        </p:spPr>
        <p:txBody>
          <a:bodyPr anchor="t" rtlCol="false" tIns="0" lIns="0" bIns="0" rIns="0">
            <a:spAutoFit/>
          </a:bodyPr>
          <a:lstStyle/>
          <a:p>
            <a:pPr algn="l" marL="0" indent="0" lvl="0">
              <a:lnSpc>
                <a:spcPts val="2658"/>
              </a:lnSpc>
              <a:spcBef>
                <a:spcPct val="0"/>
              </a:spcBef>
            </a:pPr>
            <a:r>
              <a:rPr lang="en-US" sz="1898" spc="56">
                <a:solidFill>
                  <a:srgbClr val="39352C"/>
                </a:solidFill>
                <a:latin typeface="Cerebri"/>
                <a:ea typeface="Cerebri"/>
                <a:cs typeface="Cerebri"/>
                <a:sym typeface="Cerebri"/>
              </a:rPr>
              <a:t>M</a:t>
            </a:r>
            <a:r>
              <a:rPr lang="en-US" sz="1898" spc="56">
                <a:solidFill>
                  <a:srgbClr val="39352C"/>
                </a:solidFill>
                <a:latin typeface="Cerebri"/>
                <a:ea typeface="Cerebri"/>
                <a:cs typeface="Cerebri"/>
                <a:sym typeface="Cerebri"/>
              </a:rPr>
              <a:t>ETRICFLOW</a:t>
            </a:r>
          </a:p>
        </p:txBody>
      </p:sp>
      <p:sp>
        <p:nvSpPr>
          <p:cNvPr name="TextBox 6" id="6"/>
          <p:cNvSpPr txBox="true"/>
          <p:nvPr/>
        </p:nvSpPr>
        <p:spPr>
          <a:xfrm rot="0">
            <a:off x="6231620" y="4294963"/>
            <a:ext cx="5824760" cy="1525625"/>
          </a:xfrm>
          <a:prstGeom prst="rect">
            <a:avLst/>
          </a:prstGeom>
        </p:spPr>
        <p:txBody>
          <a:bodyPr anchor="t" rtlCol="false" tIns="0" lIns="0" bIns="0" rIns="0">
            <a:spAutoFit/>
          </a:bodyPr>
          <a:lstStyle/>
          <a:p>
            <a:pPr algn="l" marL="0" indent="0" lvl="0">
              <a:lnSpc>
                <a:spcPts val="12510"/>
              </a:lnSpc>
              <a:spcBef>
                <a:spcPct val="0"/>
              </a:spcBef>
            </a:pPr>
            <a:r>
              <a:rPr lang="en-US" b="true" sz="8936">
                <a:solidFill>
                  <a:srgbClr val="0054C5"/>
                </a:solidFill>
                <a:latin typeface="Cerebri Bold"/>
                <a:ea typeface="Cerebri Bold"/>
                <a:cs typeface="Cerebri Bold"/>
                <a:sym typeface="Cerebri Bold"/>
              </a:rPr>
              <a:t>Thank You</a:t>
            </a:r>
          </a:p>
        </p:txBody>
      </p:sp>
      <p:sp>
        <p:nvSpPr>
          <p:cNvPr name="TextBox 7" id="7"/>
          <p:cNvSpPr txBox="true"/>
          <p:nvPr/>
        </p:nvSpPr>
        <p:spPr>
          <a:xfrm rot="0">
            <a:off x="6231620" y="6706381"/>
            <a:ext cx="6531448" cy="330978"/>
          </a:xfrm>
          <a:prstGeom prst="rect">
            <a:avLst/>
          </a:prstGeom>
        </p:spPr>
        <p:txBody>
          <a:bodyPr anchor="t" rtlCol="false" tIns="0" lIns="0" bIns="0" rIns="0">
            <a:spAutoFit/>
          </a:bodyPr>
          <a:lstStyle/>
          <a:p>
            <a:pPr algn="l" marL="0" indent="0" lvl="0">
              <a:lnSpc>
                <a:spcPts val="2757"/>
              </a:lnSpc>
              <a:spcBef>
                <a:spcPct val="0"/>
              </a:spcBef>
            </a:pPr>
            <a:r>
              <a:rPr lang="en-US" sz="1969">
                <a:solidFill>
                  <a:srgbClr val="39352C"/>
                </a:solidFill>
                <a:latin typeface="Cerebri"/>
                <a:ea typeface="Cerebri"/>
                <a:cs typeface="Cerebri"/>
                <a:sym typeface="Cerebri"/>
              </a:rPr>
              <a:t>GitHub Link: </a:t>
            </a:r>
            <a:r>
              <a:rPr lang="en-US" sz="1969">
                <a:solidFill>
                  <a:srgbClr val="39352C"/>
                </a:solidFill>
                <a:latin typeface="Cerebri"/>
                <a:ea typeface="Cerebri"/>
                <a:cs typeface="Cerebri"/>
                <a:sym typeface="Cerebri"/>
              </a:rPr>
              <a:t>github.com/Mohamed-Humaid/MetricFlow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DAHYiyspcN0</dc:identifier>
  <dcterms:modified xsi:type="dcterms:W3CDTF">2011-08-01T06:04:30Z</dcterms:modified>
  <cp:revision>1</cp:revision>
  <dc:title>Template-Based Presentation</dc:title>
</cp:coreProperties>
</file>